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C0C0"/>
    <a:srgbClr val="CD7F32"/>
    <a:srgbClr val="FFD700"/>
    <a:srgbClr val="C36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70" autoAdjust="0"/>
    <p:restoredTop sz="94660"/>
  </p:normalViewPr>
  <p:slideViewPr>
    <p:cSldViewPr snapToGrid="0">
      <p:cViewPr varScale="1">
        <p:scale>
          <a:sx n="86" d="100"/>
          <a:sy n="86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C45E6-A940-4DA6-9296-A15B5FB65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B90139-012E-B699-2D1F-AA5F3E5934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A0BE5-6CA1-9E12-186F-1655F7898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E8A5A-6E03-5310-997C-D27320E90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0637E-2FF6-7996-C382-CD1959C6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33113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D6DCD-FB40-C56E-2178-4C2B1DF5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516C5-5F72-F7A1-C5E8-3D95C90F6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DF77A-EFB2-979A-9EEA-D9D6E1663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D46E8-8ADA-816C-9DF6-EC01C1CBA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2D733-0225-E824-CB7F-3664F2148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35668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D3642-0446-A4D7-990D-455F2EDDA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3353AB-771F-AA4D-8150-D7791C48A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D9E2-D445-9889-F09A-5149BA772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0A65-8B57-879C-C1C7-52658ED49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4034CA-2E05-2734-F9A4-F19653DD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0353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18F9F-6C5D-1252-5035-4B0CB430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A090B-1422-ABAE-E598-C16F1EF64C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8E6C2-9860-6A91-45E8-9CA2378AB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A9B09-01C1-2109-4462-DDE708306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7928A-F7C8-32B2-C6B1-98BBCD4BE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BE52A-DD48-DE7F-A020-5DF6E9A9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4494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B64E-D140-DFDD-8EB9-516C484E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211DFA-22C3-06AE-CF42-D329FAD962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365A11-4A0B-A99D-BBF8-3EB398744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1C3AA-D671-00CC-F6EF-04E59EAB3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936D5D-3E9D-7669-0774-CC5CC524EB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3AA179-978F-3839-0815-7F381EF7B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253D47-E0C9-2168-8BB4-12E61EA1C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966829-3995-5FC7-2C01-430A6A51F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29845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0AAE9-1790-292D-F111-E5318CF86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8ACF37-2177-2C99-B507-E8FBD6034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A9CBD-5E9D-0AD2-BE8F-592B8BD37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2DA162-2054-D66D-2218-F7709B8BC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0132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F88B14-2FB8-9273-9815-515E8EAD4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3238B-9452-F5C3-409A-FBD344FD8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709FF-B957-1224-8655-6AB4780E0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62071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7DC8-5171-48CC-E3BE-1BEB910E8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0AEB6-B378-387B-D4C8-E33C62F05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9DD5EE-FE09-B1C2-D6A9-795E33F7C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11781-D75F-B97D-9768-C4902443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25F3C0-A1E2-1D7F-96D0-6C9E0638D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7F4E0-313B-D6E7-75E2-42DD8D91C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2042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97DF-A31A-C528-09FA-B680FB1D6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5BF3F4-413A-47CF-0772-A1600CAA0A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9BFD5-4D7D-B28C-84F3-AC46255BB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C7E3BE-73AA-C0AE-AE67-28C646044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0E1F9-1F18-6D56-A2F2-1BC3CAD06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31FDA-22BE-BB6D-41B1-A254AC6B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3135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EFDC2-2EC1-D6F3-FBEC-6A17F2B17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3A5AA7-437D-EB41-1882-94F0125D7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B6DBF2-27B7-789F-3386-3C2D1C07B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6D758-DD57-B4C0-7578-AB5F8ABDC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4560FC-D5CA-96C5-7C5C-C8C4D6927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8058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4D8FDB-CDE4-6D1B-F9F7-66DAD67556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7DB9D-95F0-2F8B-A171-823038F252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AF69A8-C80B-9933-B197-EF4BF229B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4599AE-2818-7065-AB5B-3738EF2A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358BB-BC46-C459-6FE5-2A8192A3F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1695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37A3A7-81D4-8FC6-337F-250EDBBF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5F265-EFC3-7E3D-D624-C2CEA4257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A788D-F230-805D-1A8C-7BA5F6E4AF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DBECDA-24E5-41CB-B5B0-0E702960A0C6}" type="datetimeFigureOut">
              <a:rPr lang="en-SG" smtClean="0"/>
              <a:t>29/9/2025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8F24F-A486-C7D8-2F2D-5D2804775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7E019-F175-E507-55AD-930E4EEF7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E6822A-BA74-4E34-AFA3-F9176E7DF726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9055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ine drawing of a robot&#10;&#10;AI-generated content may be incorrect.">
            <a:extLst>
              <a:ext uri="{FF2B5EF4-FFF2-40B4-BE49-F238E27FC236}">
                <a16:creationId xmlns:a16="http://schemas.microsoft.com/office/drawing/2014/main" id="{8C5F0DE2-DD70-97EB-6C65-7B0A9E266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Google Shape;678;p37">
            <a:extLst>
              <a:ext uri="{FF2B5EF4-FFF2-40B4-BE49-F238E27FC236}">
                <a16:creationId xmlns:a16="http://schemas.microsoft.com/office/drawing/2014/main" id="{7230A714-E708-F26C-547C-D3B72D36C9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73290" y="1633234"/>
            <a:ext cx="4103400" cy="179576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sz="3600" dirty="0">
                <a:solidFill>
                  <a:schemeClr val="bg1"/>
                </a:solidFill>
              </a:rPr>
              <a:t>Feature Store</a:t>
            </a:r>
            <a:br>
              <a:rPr lang="en-SG" sz="3600" dirty="0">
                <a:solidFill>
                  <a:schemeClr val="bg1"/>
                </a:solidFill>
              </a:rPr>
            </a:br>
            <a:r>
              <a:rPr lang="en-SG" sz="3600" dirty="0">
                <a:solidFill>
                  <a:schemeClr val="bg1"/>
                </a:solidFill>
              </a:rPr>
              <a:t>&amp; Data Pipeline</a:t>
            </a: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7" name="Google Shape;679;p37">
            <a:extLst>
              <a:ext uri="{FF2B5EF4-FFF2-40B4-BE49-F238E27FC236}">
                <a16:creationId xmlns:a16="http://schemas.microsoft.com/office/drawing/2014/main" id="{5EC5A8A1-1B59-07F9-C40D-338AD186371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290" y="3941861"/>
            <a:ext cx="5370425" cy="10674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CS611 – Machine Learning Engineering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Assignment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SG" dirty="0">
                <a:solidFill>
                  <a:schemeClr val="bg1"/>
                </a:solidFill>
              </a:rPr>
              <a:t>Yue Jun Yuan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0254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11537;p106">
            <a:extLst>
              <a:ext uri="{FF2B5EF4-FFF2-40B4-BE49-F238E27FC236}">
                <a16:creationId xmlns:a16="http://schemas.microsoft.com/office/drawing/2014/main" id="{D616191A-137A-7A23-7A53-17ED5215E4E5}"/>
              </a:ext>
            </a:extLst>
          </p:cNvPr>
          <p:cNvGrpSpPr/>
          <p:nvPr/>
        </p:nvGrpSpPr>
        <p:grpSpPr>
          <a:xfrm>
            <a:off x="3386877" y="2571981"/>
            <a:ext cx="700397" cy="857574"/>
            <a:chOff x="-3771675" y="3971775"/>
            <a:chExt cx="291300" cy="292025"/>
          </a:xfrm>
          <a:solidFill>
            <a:srgbClr val="CD7F32"/>
          </a:solidFill>
        </p:grpSpPr>
        <p:sp>
          <p:nvSpPr>
            <p:cNvPr id="81" name="Google Shape;11538;p106">
              <a:extLst>
                <a:ext uri="{FF2B5EF4-FFF2-40B4-BE49-F238E27FC236}">
                  <a16:creationId xmlns:a16="http://schemas.microsoft.com/office/drawing/2014/main" id="{7A7FA7E3-A0DD-9C38-8E77-D4DF9F562B16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11539;p106">
              <a:extLst>
                <a:ext uri="{FF2B5EF4-FFF2-40B4-BE49-F238E27FC236}">
                  <a16:creationId xmlns:a16="http://schemas.microsoft.com/office/drawing/2014/main" id="{DA2B53C1-8064-A287-31BB-92A956309E66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3" name="Google Shape;11540;p106">
              <a:extLst>
                <a:ext uri="{FF2B5EF4-FFF2-40B4-BE49-F238E27FC236}">
                  <a16:creationId xmlns:a16="http://schemas.microsoft.com/office/drawing/2014/main" id="{47E1684F-A9A8-0A9C-251E-A236B276DB70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11541;p106">
              <a:extLst>
                <a:ext uri="{FF2B5EF4-FFF2-40B4-BE49-F238E27FC236}">
                  <a16:creationId xmlns:a16="http://schemas.microsoft.com/office/drawing/2014/main" id="{2DC9D060-96E0-4FEF-818C-15837F0D474D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11542;p106">
              <a:extLst>
                <a:ext uri="{FF2B5EF4-FFF2-40B4-BE49-F238E27FC236}">
                  <a16:creationId xmlns:a16="http://schemas.microsoft.com/office/drawing/2014/main" id="{F5F769A6-2741-BD82-E7CE-DB03A74CEEB3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11537;p106">
            <a:extLst>
              <a:ext uri="{FF2B5EF4-FFF2-40B4-BE49-F238E27FC236}">
                <a16:creationId xmlns:a16="http://schemas.microsoft.com/office/drawing/2014/main" id="{63BFB71D-8DD9-2597-462D-D621AAFE837E}"/>
              </a:ext>
            </a:extLst>
          </p:cNvPr>
          <p:cNvGrpSpPr/>
          <p:nvPr/>
        </p:nvGrpSpPr>
        <p:grpSpPr>
          <a:xfrm>
            <a:off x="7717185" y="2557705"/>
            <a:ext cx="700397" cy="857574"/>
            <a:chOff x="-3771675" y="3971775"/>
            <a:chExt cx="291300" cy="292025"/>
          </a:xfrm>
          <a:solidFill>
            <a:srgbClr val="FFD700"/>
          </a:solidFill>
        </p:grpSpPr>
        <p:sp>
          <p:nvSpPr>
            <p:cNvPr id="76" name="Google Shape;11538;p106">
              <a:extLst>
                <a:ext uri="{FF2B5EF4-FFF2-40B4-BE49-F238E27FC236}">
                  <a16:creationId xmlns:a16="http://schemas.microsoft.com/office/drawing/2014/main" id="{B879944F-F408-C729-0F48-5C08072C1C7E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11539;p106">
              <a:extLst>
                <a:ext uri="{FF2B5EF4-FFF2-40B4-BE49-F238E27FC236}">
                  <a16:creationId xmlns:a16="http://schemas.microsoft.com/office/drawing/2014/main" id="{06C83FFD-B512-EDF4-F7A0-F5C0C8DC176C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11540;p106">
              <a:extLst>
                <a:ext uri="{FF2B5EF4-FFF2-40B4-BE49-F238E27FC236}">
                  <a16:creationId xmlns:a16="http://schemas.microsoft.com/office/drawing/2014/main" id="{9CF1D520-0CBF-3C57-1C9D-C54A61AB4620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11541;p106">
              <a:extLst>
                <a:ext uri="{FF2B5EF4-FFF2-40B4-BE49-F238E27FC236}">
                  <a16:creationId xmlns:a16="http://schemas.microsoft.com/office/drawing/2014/main" id="{01C66DD6-E9E4-89E0-AC19-DCD56014D0BA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11542;p106">
              <a:extLst>
                <a:ext uri="{FF2B5EF4-FFF2-40B4-BE49-F238E27FC236}">
                  <a16:creationId xmlns:a16="http://schemas.microsoft.com/office/drawing/2014/main" id="{D6A14FCF-0BF1-A9CA-996D-CC6D33C55084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11537;p106">
            <a:extLst>
              <a:ext uri="{FF2B5EF4-FFF2-40B4-BE49-F238E27FC236}">
                <a16:creationId xmlns:a16="http://schemas.microsoft.com/office/drawing/2014/main" id="{FA8B6CE9-C9E5-9399-8349-4C261DA8DEA4}"/>
              </a:ext>
            </a:extLst>
          </p:cNvPr>
          <p:cNvGrpSpPr/>
          <p:nvPr/>
        </p:nvGrpSpPr>
        <p:grpSpPr>
          <a:xfrm>
            <a:off x="5518910" y="2566273"/>
            <a:ext cx="700397" cy="857574"/>
            <a:chOff x="-3771675" y="3971775"/>
            <a:chExt cx="291300" cy="292025"/>
          </a:xfrm>
          <a:solidFill>
            <a:srgbClr val="C0C0C0"/>
          </a:solidFill>
        </p:grpSpPr>
        <p:sp>
          <p:nvSpPr>
            <p:cNvPr id="71" name="Google Shape;11538;p106">
              <a:extLst>
                <a:ext uri="{FF2B5EF4-FFF2-40B4-BE49-F238E27FC236}">
                  <a16:creationId xmlns:a16="http://schemas.microsoft.com/office/drawing/2014/main" id="{B861B62E-680D-28F5-3A03-AD56B3E137A7}"/>
                </a:ext>
              </a:extLst>
            </p:cNvPr>
            <p:cNvSpPr/>
            <p:nvPr/>
          </p:nvSpPr>
          <p:spPr>
            <a:xfrm>
              <a:off x="-3770100" y="3971775"/>
              <a:ext cx="218975" cy="66775"/>
            </a:xfrm>
            <a:custGeom>
              <a:avLst/>
              <a:gdLst/>
              <a:ahLst/>
              <a:cxnLst/>
              <a:rect l="l" t="t" r="r" b="b"/>
              <a:pathLst>
                <a:path w="8759" h="2671" extrusionOk="0">
                  <a:moveTo>
                    <a:pt x="4391" y="0"/>
                  </a:moveTo>
                  <a:cubicBezTo>
                    <a:pt x="2410" y="0"/>
                    <a:pt x="426" y="449"/>
                    <a:pt x="0" y="1347"/>
                  </a:cubicBezTo>
                  <a:cubicBezTo>
                    <a:pt x="426" y="2229"/>
                    <a:pt x="2410" y="2670"/>
                    <a:pt x="4391" y="2670"/>
                  </a:cubicBezTo>
                  <a:cubicBezTo>
                    <a:pt x="6372" y="2670"/>
                    <a:pt x="8349" y="2229"/>
                    <a:pt x="8759" y="1347"/>
                  </a:cubicBezTo>
                  <a:cubicBezTo>
                    <a:pt x="8349" y="449"/>
                    <a:pt x="6372" y="0"/>
                    <a:pt x="439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11539;p106">
              <a:extLst>
                <a:ext uri="{FF2B5EF4-FFF2-40B4-BE49-F238E27FC236}">
                  <a16:creationId xmlns:a16="http://schemas.microsoft.com/office/drawing/2014/main" id="{35CA8DEB-A7C9-AC14-974C-BD92286A3745}"/>
                </a:ext>
              </a:extLst>
            </p:cNvPr>
            <p:cNvSpPr/>
            <p:nvPr/>
          </p:nvSpPr>
          <p:spPr>
            <a:xfrm>
              <a:off x="-3771675" y="4030650"/>
              <a:ext cx="222125" cy="78000"/>
            </a:xfrm>
            <a:custGeom>
              <a:avLst/>
              <a:gdLst/>
              <a:ahLst/>
              <a:cxnLst/>
              <a:rect l="l" t="t" r="r" b="b"/>
              <a:pathLst>
                <a:path w="8885" h="3120" extrusionOk="0">
                  <a:moveTo>
                    <a:pt x="0" y="0"/>
                  </a:moveTo>
                  <a:lnTo>
                    <a:pt x="0" y="1418"/>
                  </a:lnTo>
                  <a:cubicBezTo>
                    <a:pt x="0" y="2521"/>
                    <a:pt x="2048" y="3088"/>
                    <a:pt x="4127" y="3119"/>
                  </a:cubicBezTo>
                  <a:cubicBezTo>
                    <a:pt x="4915" y="1891"/>
                    <a:pt x="6301" y="1103"/>
                    <a:pt x="7877" y="1103"/>
                  </a:cubicBezTo>
                  <a:cubicBezTo>
                    <a:pt x="8223" y="1103"/>
                    <a:pt x="8570" y="1135"/>
                    <a:pt x="8885" y="1229"/>
                  </a:cubicBezTo>
                  <a:lnTo>
                    <a:pt x="8885" y="0"/>
                  </a:lnTo>
                  <a:cubicBezTo>
                    <a:pt x="7908" y="788"/>
                    <a:pt x="6112" y="1072"/>
                    <a:pt x="4443" y="1072"/>
                  </a:cubicBezTo>
                  <a:cubicBezTo>
                    <a:pt x="2804" y="1072"/>
                    <a:pt x="977" y="757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11540;p106">
              <a:extLst>
                <a:ext uri="{FF2B5EF4-FFF2-40B4-BE49-F238E27FC236}">
                  <a16:creationId xmlns:a16="http://schemas.microsoft.com/office/drawing/2014/main" id="{CDEF7100-0BDD-CFC2-7C64-DDEAD3BFE597}"/>
                </a:ext>
              </a:extLst>
            </p:cNvPr>
            <p:cNvSpPr/>
            <p:nvPr/>
          </p:nvSpPr>
          <p:spPr>
            <a:xfrm>
              <a:off x="-3669425" y="4074750"/>
              <a:ext cx="189050" cy="189050"/>
            </a:xfrm>
            <a:custGeom>
              <a:avLst/>
              <a:gdLst/>
              <a:ahLst/>
              <a:cxnLst/>
              <a:rect l="l" t="t" r="r" b="b"/>
              <a:pathLst>
                <a:path w="7562" h="7562" extrusionOk="0">
                  <a:moveTo>
                    <a:pt x="5501" y="2732"/>
                  </a:moveTo>
                  <a:cubicBezTo>
                    <a:pt x="5748" y="2732"/>
                    <a:pt x="6008" y="3067"/>
                    <a:pt x="5766" y="3309"/>
                  </a:cubicBezTo>
                  <a:lnTo>
                    <a:pt x="3718" y="5356"/>
                  </a:lnTo>
                  <a:cubicBezTo>
                    <a:pt x="3655" y="5420"/>
                    <a:pt x="3568" y="5451"/>
                    <a:pt x="3482" y="5451"/>
                  </a:cubicBezTo>
                  <a:cubicBezTo>
                    <a:pt x="3395" y="5451"/>
                    <a:pt x="3308" y="5420"/>
                    <a:pt x="3245" y="5356"/>
                  </a:cubicBezTo>
                  <a:lnTo>
                    <a:pt x="1859" y="4002"/>
                  </a:lnTo>
                  <a:cubicBezTo>
                    <a:pt x="1617" y="3760"/>
                    <a:pt x="1840" y="3425"/>
                    <a:pt x="2099" y="3425"/>
                  </a:cubicBezTo>
                  <a:cubicBezTo>
                    <a:pt x="2177" y="3425"/>
                    <a:pt x="2259" y="3456"/>
                    <a:pt x="2332" y="3529"/>
                  </a:cubicBezTo>
                  <a:lnTo>
                    <a:pt x="3466" y="4663"/>
                  </a:lnTo>
                  <a:lnTo>
                    <a:pt x="5293" y="2836"/>
                  </a:lnTo>
                  <a:cubicBezTo>
                    <a:pt x="5352" y="2763"/>
                    <a:pt x="5426" y="2732"/>
                    <a:pt x="5501" y="2732"/>
                  </a:cubicBezTo>
                  <a:close/>
                  <a:moveTo>
                    <a:pt x="3781" y="1"/>
                  </a:moveTo>
                  <a:cubicBezTo>
                    <a:pt x="1702" y="1"/>
                    <a:pt x="0" y="1702"/>
                    <a:pt x="0" y="3781"/>
                  </a:cubicBezTo>
                  <a:cubicBezTo>
                    <a:pt x="0" y="5892"/>
                    <a:pt x="1702" y="7562"/>
                    <a:pt x="3781" y="7562"/>
                  </a:cubicBezTo>
                  <a:cubicBezTo>
                    <a:pt x="5860" y="7562"/>
                    <a:pt x="7562" y="5892"/>
                    <a:pt x="7562" y="3781"/>
                  </a:cubicBezTo>
                  <a:cubicBezTo>
                    <a:pt x="7562" y="1702"/>
                    <a:pt x="5860" y="1"/>
                    <a:pt x="378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11541;p106">
              <a:extLst>
                <a:ext uri="{FF2B5EF4-FFF2-40B4-BE49-F238E27FC236}">
                  <a16:creationId xmlns:a16="http://schemas.microsoft.com/office/drawing/2014/main" id="{D4F5E227-62D2-ED9C-2AE6-4E4DB328B5B9}"/>
                </a:ext>
              </a:extLst>
            </p:cNvPr>
            <p:cNvSpPr/>
            <p:nvPr/>
          </p:nvSpPr>
          <p:spPr>
            <a:xfrm>
              <a:off x="-3771675" y="4099950"/>
              <a:ext cx="94525" cy="76425"/>
            </a:xfrm>
            <a:custGeom>
              <a:avLst/>
              <a:gdLst/>
              <a:ahLst/>
              <a:cxnLst/>
              <a:rect l="l" t="t" r="r" b="b"/>
              <a:pathLst>
                <a:path w="3781" h="3057" extrusionOk="0">
                  <a:moveTo>
                    <a:pt x="0" y="1"/>
                  </a:moveTo>
                  <a:lnTo>
                    <a:pt x="0" y="1419"/>
                  </a:lnTo>
                  <a:cubicBezTo>
                    <a:pt x="0" y="2364"/>
                    <a:pt x="1607" y="2899"/>
                    <a:pt x="3434" y="3057"/>
                  </a:cubicBezTo>
                  <a:cubicBezTo>
                    <a:pt x="3371" y="2364"/>
                    <a:pt x="3497" y="1671"/>
                    <a:pt x="3781" y="1040"/>
                  </a:cubicBezTo>
                  <a:cubicBezTo>
                    <a:pt x="2332" y="977"/>
                    <a:pt x="819" y="662"/>
                    <a:pt x="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11542;p106">
              <a:extLst>
                <a:ext uri="{FF2B5EF4-FFF2-40B4-BE49-F238E27FC236}">
                  <a16:creationId xmlns:a16="http://schemas.microsoft.com/office/drawing/2014/main" id="{0E346755-9CD4-90DA-9F0B-47FF3F01736E}"/>
                </a:ext>
              </a:extLst>
            </p:cNvPr>
            <p:cNvSpPr/>
            <p:nvPr/>
          </p:nvSpPr>
          <p:spPr>
            <a:xfrm>
              <a:off x="-3771675" y="4167700"/>
              <a:ext cx="135500" cy="95325"/>
            </a:xfrm>
            <a:custGeom>
              <a:avLst/>
              <a:gdLst/>
              <a:ahLst/>
              <a:cxnLst/>
              <a:rect l="l" t="t" r="r" b="b"/>
              <a:pathLst>
                <a:path w="5420" h="3813" extrusionOk="0">
                  <a:moveTo>
                    <a:pt x="0" y="0"/>
                  </a:moveTo>
                  <a:lnTo>
                    <a:pt x="0" y="2111"/>
                  </a:lnTo>
                  <a:cubicBezTo>
                    <a:pt x="0" y="3277"/>
                    <a:pt x="2237" y="3812"/>
                    <a:pt x="4443" y="3812"/>
                  </a:cubicBezTo>
                  <a:cubicBezTo>
                    <a:pt x="4789" y="3812"/>
                    <a:pt x="5104" y="3812"/>
                    <a:pt x="5419" y="3781"/>
                  </a:cubicBezTo>
                  <a:cubicBezTo>
                    <a:pt x="4474" y="3151"/>
                    <a:pt x="3781" y="2206"/>
                    <a:pt x="3529" y="1071"/>
                  </a:cubicBezTo>
                  <a:cubicBezTo>
                    <a:pt x="2174" y="977"/>
                    <a:pt x="788" y="662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" name="Google Shape;4727;p94">
            <a:extLst>
              <a:ext uri="{FF2B5EF4-FFF2-40B4-BE49-F238E27FC236}">
                <a16:creationId xmlns:a16="http://schemas.microsoft.com/office/drawing/2014/main" id="{0B5EFC30-6233-C423-82EE-09A20547EEAC}"/>
              </a:ext>
            </a:extLst>
          </p:cNvPr>
          <p:cNvSpPr/>
          <p:nvPr/>
        </p:nvSpPr>
        <p:spPr>
          <a:xfrm>
            <a:off x="2279207" y="2974379"/>
            <a:ext cx="414802" cy="236547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" name="Google Shape;9396;p102">
            <a:extLst>
              <a:ext uri="{FF2B5EF4-FFF2-40B4-BE49-F238E27FC236}">
                <a16:creationId xmlns:a16="http://schemas.microsoft.com/office/drawing/2014/main" id="{80A8AA9B-A034-9483-3751-4BFD283C8623}"/>
              </a:ext>
            </a:extLst>
          </p:cNvPr>
          <p:cNvGrpSpPr/>
          <p:nvPr/>
        </p:nvGrpSpPr>
        <p:grpSpPr>
          <a:xfrm>
            <a:off x="1286194" y="2753800"/>
            <a:ext cx="534074" cy="643995"/>
            <a:chOff x="-60988625" y="3740800"/>
            <a:chExt cx="316650" cy="310350"/>
          </a:xfrm>
          <a:solidFill>
            <a:schemeClr val="accent6"/>
          </a:solidFill>
        </p:grpSpPr>
        <p:sp>
          <p:nvSpPr>
            <p:cNvPr id="68" name="Google Shape;9397;p102">
              <a:extLst>
                <a:ext uri="{FF2B5EF4-FFF2-40B4-BE49-F238E27FC236}">
                  <a16:creationId xmlns:a16="http://schemas.microsoft.com/office/drawing/2014/main" id="{A079D4D2-B99E-926C-45F2-3FECD6D6AA5A}"/>
                </a:ext>
              </a:extLst>
            </p:cNvPr>
            <p:cNvSpPr/>
            <p:nvPr/>
          </p:nvSpPr>
          <p:spPr>
            <a:xfrm>
              <a:off x="-60988625" y="3740800"/>
              <a:ext cx="311125" cy="310350"/>
            </a:xfrm>
            <a:custGeom>
              <a:avLst/>
              <a:gdLst/>
              <a:ahLst/>
              <a:cxnLst/>
              <a:rect l="l" t="t" r="r" b="b"/>
              <a:pathLst>
                <a:path w="12445" h="12414" extrusionOk="0">
                  <a:moveTo>
                    <a:pt x="7026" y="1670"/>
                  </a:moveTo>
                  <a:cubicBezTo>
                    <a:pt x="7278" y="1670"/>
                    <a:pt x="7467" y="1859"/>
                    <a:pt x="7467" y="2111"/>
                  </a:cubicBezTo>
                  <a:cubicBezTo>
                    <a:pt x="7467" y="2332"/>
                    <a:pt x="7278" y="2490"/>
                    <a:pt x="7026" y="2490"/>
                  </a:cubicBezTo>
                  <a:lnTo>
                    <a:pt x="2080" y="2490"/>
                  </a:lnTo>
                  <a:cubicBezTo>
                    <a:pt x="1828" y="2490"/>
                    <a:pt x="1639" y="2300"/>
                    <a:pt x="1639" y="2111"/>
                  </a:cubicBezTo>
                  <a:cubicBezTo>
                    <a:pt x="1639" y="1828"/>
                    <a:pt x="1828" y="1670"/>
                    <a:pt x="2080" y="1670"/>
                  </a:cubicBezTo>
                  <a:close/>
                  <a:moveTo>
                    <a:pt x="7026" y="4159"/>
                  </a:moveTo>
                  <a:cubicBezTo>
                    <a:pt x="7278" y="4159"/>
                    <a:pt x="7467" y="4348"/>
                    <a:pt x="7467" y="4537"/>
                  </a:cubicBezTo>
                  <a:cubicBezTo>
                    <a:pt x="7467" y="4789"/>
                    <a:pt x="7278" y="4978"/>
                    <a:pt x="7026" y="4978"/>
                  </a:cubicBezTo>
                  <a:lnTo>
                    <a:pt x="2080" y="4978"/>
                  </a:lnTo>
                  <a:cubicBezTo>
                    <a:pt x="1828" y="4978"/>
                    <a:pt x="1639" y="4789"/>
                    <a:pt x="1639" y="4537"/>
                  </a:cubicBezTo>
                  <a:cubicBezTo>
                    <a:pt x="1639" y="4317"/>
                    <a:pt x="1828" y="4159"/>
                    <a:pt x="2080" y="4159"/>
                  </a:cubicBezTo>
                  <a:close/>
                  <a:moveTo>
                    <a:pt x="7026" y="6648"/>
                  </a:moveTo>
                  <a:cubicBezTo>
                    <a:pt x="7278" y="6648"/>
                    <a:pt x="7467" y="6837"/>
                    <a:pt x="7467" y="7058"/>
                  </a:cubicBezTo>
                  <a:cubicBezTo>
                    <a:pt x="7467" y="7310"/>
                    <a:pt x="7278" y="7467"/>
                    <a:pt x="7026" y="7467"/>
                  </a:cubicBezTo>
                  <a:lnTo>
                    <a:pt x="2080" y="7467"/>
                  </a:lnTo>
                  <a:cubicBezTo>
                    <a:pt x="1828" y="7467"/>
                    <a:pt x="1639" y="7278"/>
                    <a:pt x="1639" y="7058"/>
                  </a:cubicBezTo>
                  <a:cubicBezTo>
                    <a:pt x="1639" y="6806"/>
                    <a:pt x="1828" y="6648"/>
                    <a:pt x="2080" y="6648"/>
                  </a:cubicBezTo>
                  <a:close/>
                  <a:moveTo>
                    <a:pt x="7026" y="9106"/>
                  </a:moveTo>
                  <a:cubicBezTo>
                    <a:pt x="7278" y="9106"/>
                    <a:pt x="7467" y="9295"/>
                    <a:pt x="7467" y="9515"/>
                  </a:cubicBezTo>
                  <a:cubicBezTo>
                    <a:pt x="7467" y="9736"/>
                    <a:pt x="7278" y="9893"/>
                    <a:pt x="7026" y="9893"/>
                  </a:cubicBezTo>
                  <a:lnTo>
                    <a:pt x="2080" y="9893"/>
                  </a:lnTo>
                  <a:cubicBezTo>
                    <a:pt x="1828" y="9893"/>
                    <a:pt x="1639" y="9704"/>
                    <a:pt x="1639" y="9515"/>
                  </a:cubicBezTo>
                  <a:cubicBezTo>
                    <a:pt x="1639" y="9263"/>
                    <a:pt x="1828" y="9106"/>
                    <a:pt x="2080" y="9106"/>
                  </a:cubicBezTo>
                  <a:close/>
                  <a:moveTo>
                    <a:pt x="11500" y="10775"/>
                  </a:moveTo>
                  <a:cubicBezTo>
                    <a:pt x="11342" y="11248"/>
                    <a:pt x="10870" y="11594"/>
                    <a:pt x="10303" y="11594"/>
                  </a:cubicBezTo>
                  <a:cubicBezTo>
                    <a:pt x="9767" y="11594"/>
                    <a:pt x="9326" y="11248"/>
                    <a:pt x="9137" y="10775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29"/>
                  </a:cubicBezTo>
                  <a:lnTo>
                    <a:pt x="32" y="10334"/>
                  </a:lnTo>
                  <a:cubicBezTo>
                    <a:pt x="0" y="11468"/>
                    <a:pt x="946" y="12414"/>
                    <a:pt x="2080" y="12414"/>
                  </a:cubicBezTo>
                  <a:lnTo>
                    <a:pt x="10334" y="12414"/>
                  </a:lnTo>
                  <a:cubicBezTo>
                    <a:pt x="11500" y="12414"/>
                    <a:pt x="12445" y="11468"/>
                    <a:pt x="12445" y="10334"/>
                  </a:cubicBezTo>
                  <a:cubicBezTo>
                    <a:pt x="12445" y="10082"/>
                    <a:pt x="12224" y="9893"/>
                    <a:pt x="12004" y="9893"/>
                  </a:cubicBezTo>
                  <a:lnTo>
                    <a:pt x="9074" y="9893"/>
                  </a:lnTo>
                  <a:lnTo>
                    <a:pt x="9074" y="1229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398;p102">
              <a:extLst>
                <a:ext uri="{FF2B5EF4-FFF2-40B4-BE49-F238E27FC236}">
                  <a16:creationId xmlns:a16="http://schemas.microsoft.com/office/drawing/2014/main" id="{69C03EFA-2118-1969-17A0-DA5AADA3C076}"/>
                </a:ext>
              </a:extLst>
            </p:cNvPr>
            <p:cNvSpPr/>
            <p:nvPr/>
          </p:nvSpPr>
          <p:spPr>
            <a:xfrm>
              <a:off x="-60742100" y="3920375"/>
              <a:ext cx="68550" cy="55175"/>
            </a:xfrm>
            <a:custGeom>
              <a:avLst/>
              <a:gdLst/>
              <a:ahLst/>
              <a:cxnLst/>
              <a:rect l="l" t="t" r="r" b="b"/>
              <a:pathLst>
                <a:path w="2742" h="2207" extrusionOk="0">
                  <a:moveTo>
                    <a:pt x="0" y="1"/>
                  </a:moveTo>
                  <a:lnTo>
                    <a:pt x="0" y="32"/>
                  </a:lnTo>
                  <a:lnTo>
                    <a:pt x="1009" y="1986"/>
                  </a:lnTo>
                  <a:cubicBezTo>
                    <a:pt x="1103" y="2080"/>
                    <a:pt x="1261" y="2206"/>
                    <a:pt x="1418" y="2206"/>
                  </a:cubicBezTo>
                  <a:cubicBezTo>
                    <a:pt x="1576" y="2206"/>
                    <a:pt x="1733" y="2143"/>
                    <a:pt x="1796" y="1986"/>
                  </a:cubicBezTo>
                  <a:lnTo>
                    <a:pt x="2741" y="32"/>
                  </a:lnTo>
                  <a:lnTo>
                    <a:pt x="2741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399;p102">
              <a:extLst>
                <a:ext uri="{FF2B5EF4-FFF2-40B4-BE49-F238E27FC236}">
                  <a16:creationId xmlns:a16="http://schemas.microsoft.com/office/drawing/2014/main" id="{AE8A6609-D110-C7A5-C63F-2CCEC96ED7CC}"/>
                </a:ext>
              </a:extLst>
            </p:cNvPr>
            <p:cNvSpPr/>
            <p:nvPr/>
          </p:nvSpPr>
          <p:spPr>
            <a:xfrm>
              <a:off x="-60740525" y="3741600"/>
              <a:ext cx="68550" cy="158325"/>
            </a:xfrm>
            <a:custGeom>
              <a:avLst/>
              <a:gdLst/>
              <a:ahLst/>
              <a:cxnLst/>
              <a:rect l="l" t="t" r="r" b="b"/>
              <a:pathLst>
                <a:path w="2742" h="6333" extrusionOk="0">
                  <a:moveTo>
                    <a:pt x="1796" y="819"/>
                  </a:moveTo>
                  <a:cubicBezTo>
                    <a:pt x="1891" y="819"/>
                    <a:pt x="1922" y="882"/>
                    <a:pt x="1922" y="945"/>
                  </a:cubicBezTo>
                  <a:lnTo>
                    <a:pt x="1922" y="1638"/>
                  </a:lnTo>
                  <a:lnTo>
                    <a:pt x="820" y="1638"/>
                  </a:lnTo>
                  <a:lnTo>
                    <a:pt x="820" y="945"/>
                  </a:lnTo>
                  <a:cubicBezTo>
                    <a:pt x="820" y="851"/>
                    <a:pt x="883" y="819"/>
                    <a:pt x="977" y="819"/>
                  </a:cubicBezTo>
                  <a:close/>
                  <a:moveTo>
                    <a:pt x="977" y="0"/>
                  </a:moveTo>
                  <a:cubicBezTo>
                    <a:pt x="410" y="0"/>
                    <a:pt x="1" y="410"/>
                    <a:pt x="1" y="945"/>
                  </a:cubicBezTo>
                  <a:lnTo>
                    <a:pt x="1" y="6333"/>
                  </a:lnTo>
                  <a:lnTo>
                    <a:pt x="2741" y="6333"/>
                  </a:lnTo>
                  <a:lnTo>
                    <a:pt x="2741" y="945"/>
                  </a:lnTo>
                  <a:cubicBezTo>
                    <a:pt x="2741" y="410"/>
                    <a:pt x="2300" y="0"/>
                    <a:pt x="17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" name="Google Shape;4727;p94">
            <a:extLst>
              <a:ext uri="{FF2B5EF4-FFF2-40B4-BE49-F238E27FC236}">
                <a16:creationId xmlns:a16="http://schemas.microsoft.com/office/drawing/2014/main" id="{49628609-B04B-929B-383C-081448496379}"/>
              </a:ext>
            </a:extLst>
          </p:cNvPr>
          <p:cNvSpPr/>
          <p:nvPr/>
        </p:nvSpPr>
        <p:spPr>
          <a:xfrm>
            <a:off x="4513463" y="2971653"/>
            <a:ext cx="414802" cy="236547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4727;p94">
            <a:extLst>
              <a:ext uri="{FF2B5EF4-FFF2-40B4-BE49-F238E27FC236}">
                <a16:creationId xmlns:a16="http://schemas.microsoft.com/office/drawing/2014/main" id="{5791EF24-4A70-DF2A-ABCD-24FAAE492B35}"/>
              </a:ext>
            </a:extLst>
          </p:cNvPr>
          <p:cNvSpPr/>
          <p:nvPr/>
        </p:nvSpPr>
        <p:spPr>
          <a:xfrm>
            <a:off x="6677622" y="2970578"/>
            <a:ext cx="414802" cy="236547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" name="Google Shape;8725;p100">
            <a:extLst>
              <a:ext uri="{FF2B5EF4-FFF2-40B4-BE49-F238E27FC236}">
                <a16:creationId xmlns:a16="http://schemas.microsoft.com/office/drawing/2014/main" id="{09C46EC4-984F-EE08-58F5-6709CB186554}"/>
              </a:ext>
            </a:extLst>
          </p:cNvPr>
          <p:cNvGrpSpPr/>
          <p:nvPr/>
        </p:nvGrpSpPr>
        <p:grpSpPr>
          <a:xfrm>
            <a:off x="9802844" y="2172564"/>
            <a:ext cx="495718" cy="617025"/>
            <a:chOff x="1492675" y="2027925"/>
            <a:chExt cx="481825" cy="481825"/>
          </a:xfrm>
          <a:solidFill>
            <a:schemeClr val="tx2">
              <a:lumMod val="75000"/>
              <a:lumOff val="25000"/>
            </a:schemeClr>
          </a:solidFill>
        </p:grpSpPr>
        <p:sp>
          <p:nvSpPr>
            <p:cNvPr id="63" name="Google Shape;8726;p100">
              <a:extLst>
                <a:ext uri="{FF2B5EF4-FFF2-40B4-BE49-F238E27FC236}">
                  <a16:creationId xmlns:a16="http://schemas.microsoft.com/office/drawing/2014/main" id="{CA8B729B-F898-A167-BDE1-83486B9E2826}"/>
                </a:ext>
              </a:extLst>
            </p:cNvPr>
            <p:cNvSpPr/>
            <p:nvPr/>
          </p:nvSpPr>
          <p:spPr>
            <a:xfrm>
              <a:off x="1719425" y="21700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4" y="1"/>
                    <a:pt x="1" y="251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1"/>
                    <a:pt x="877" y="1"/>
                    <a:pt x="5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4" name="Google Shape;8727;p100">
              <a:extLst>
                <a:ext uri="{FF2B5EF4-FFF2-40B4-BE49-F238E27FC236}">
                  <a16:creationId xmlns:a16="http://schemas.microsoft.com/office/drawing/2014/main" id="{5A67E5AA-ED33-7C3C-1D3A-B94931BB2428}"/>
                </a:ext>
              </a:extLst>
            </p:cNvPr>
            <p:cNvSpPr/>
            <p:nvPr/>
          </p:nvSpPr>
          <p:spPr>
            <a:xfrm>
              <a:off x="183235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3" y="0"/>
                    <a:pt x="0" y="250"/>
                    <a:pt x="0" y="564"/>
                  </a:cubicBezTo>
                  <a:cubicBezTo>
                    <a:pt x="0" y="877"/>
                    <a:pt x="253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5" name="Google Shape;8728;p100">
              <a:extLst>
                <a:ext uri="{FF2B5EF4-FFF2-40B4-BE49-F238E27FC236}">
                  <a16:creationId xmlns:a16="http://schemas.microsoft.com/office/drawing/2014/main" id="{3F52B9DD-C233-4684-CD2C-CF1F9C576DC3}"/>
                </a:ext>
              </a:extLst>
            </p:cNvPr>
            <p:cNvSpPr/>
            <p:nvPr/>
          </p:nvSpPr>
          <p:spPr>
            <a:xfrm>
              <a:off x="1606500" y="22547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0"/>
                  </a:moveTo>
                  <a:cubicBezTo>
                    <a:pt x="254" y="0"/>
                    <a:pt x="1" y="250"/>
                    <a:pt x="1" y="564"/>
                  </a:cubicBezTo>
                  <a:cubicBezTo>
                    <a:pt x="1" y="877"/>
                    <a:pt x="254" y="1130"/>
                    <a:pt x="567" y="1130"/>
                  </a:cubicBezTo>
                  <a:cubicBezTo>
                    <a:pt x="877" y="1130"/>
                    <a:pt x="1130" y="877"/>
                    <a:pt x="1130" y="564"/>
                  </a:cubicBezTo>
                  <a:cubicBezTo>
                    <a:pt x="1130" y="250"/>
                    <a:pt x="877" y="0"/>
                    <a:pt x="5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6" name="Google Shape;8729;p100">
              <a:extLst>
                <a:ext uri="{FF2B5EF4-FFF2-40B4-BE49-F238E27FC236}">
                  <a16:creationId xmlns:a16="http://schemas.microsoft.com/office/drawing/2014/main" id="{A62A5D7B-7E60-227C-D2F3-C585C6422494}"/>
                </a:ext>
              </a:extLst>
            </p:cNvPr>
            <p:cNvSpPr/>
            <p:nvPr/>
          </p:nvSpPr>
          <p:spPr>
            <a:xfrm>
              <a:off x="1492675" y="2425025"/>
              <a:ext cx="481825" cy="84725"/>
            </a:xfrm>
            <a:custGeom>
              <a:avLst/>
              <a:gdLst/>
              <a:ahLst/>
              <a:cxnLst/>
              <a:rect l="l" t="t" r="r" b="b"/>
              <a:pathLst>
                <a:path w="19273" h="3389" extrusionOk="0">
                  <a:moveTo>
                    <a:pt x="1" y="1"/>
                  </a:moveTo>
                  <a:lnTo>
                    <a:pt x="1" y="1696"/>
                  </a:lnTo>
                  <a:cubicBezTo>
                    <a:pt x="1" y="2630"/>
                    <a:pt x="757" y="3389"/>
                    <a:pt x="1693" y="3389"/>
                  </a:cubicBezTo>
                  <a:lnTo>
                    <a:pt x="17577" y="3389"/>
                  </a:lnTo>
                  <a:cubicBezTo>
                    <a:pt x="18514" y="3389"/>
                    <a:pt x="19270" y="2630"/>
                    <a:pt x="19273" y="1696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7" name="Google Shape;8730;p100">
              <a:extLst>
                <a:ext uri="{FF2B5EF4-FFF2-40B4-BE49-F238E27FC236}">
                  <a16:creationId xmlns:a16="http://schemas.microsoft.com/office/drawing/2014/main" id="{A19254A6-17E4-5D54-36FF-7DFE4CB0938B}"/>
                </a:ext>
              </a:extLst>
            </p:cNvPr>
            <p:cNvSpPr/>
            <p:nvPr/>
          </p:nvSpPr>
          <p:spPr>
            <a:xfrm>
              <a:off x="1492675" y="2027925"/>
              <a:ext cx="481825" cy="368000"/>
            </a:xfrm>
            <a:custGeom>
              <a:avLst/>
              <a:gdLst/>
              <a:ahLst/>
              <a:cxnLst/>
              <a:rect l="l" t="t" r="r" b="b"/>
              <a:pathLst>
                <a:path w="19273" h="14720" extrusionOk="0">
                  <a:moveTo>
                    <a:pt x="5120" y="2259"/>
                  </a:moveTo>
                  <a:cubicBezTo>
                    <a:pt x="5430" y="2259"/>
                    <a:pt x="5683" y="2512"/>
                    <a:pt x="5683" y="2825"/>
                  </a:cubicBezTo>
                  <a:lnTo>
                    <a:pt x="5683" y="8047"/>
                  </a:lnTo>
                  <a:cubicBezTo>
                    <a:pt x="6360" y="8281"/>
                    <a:pt x="6812" y="8920"/>
                    <a:pt x="6812" y="9637"/>
                  </a:cubicBezTo>
                  <a:cubicBezTo>
                    <a:pt x="6812" y="10353"/>
                    <a:pt x="6360" y="10992"/>
                    <a:pt x="5683" y="11226"/>
                  </a:cubicBezTo>
                  <a:lnTo>
                    <a:pt x="5683" y="13024"/>
                  </a:lnTo>
                  <a:cubicBezTo>
                    <a:pt x="5683" y="13337"/>
                    <a:pt x="5430" y="13587"/>
                    <a:pt x="5120" y="13587"/>
                  </a:cubicBezTo>
                  <a:cubicBezTo>
                    <a:pt x="4807" y="13587"/>
                    <a:pt x="4554" y="13337"/>
                    <a:pt x="4554" y="13024"/>
                  </a:cubicBezTo>
                  <a:lnTo>
                    <a:pt x="4554" y="11226"/>
                  </a:lnTo>
                  <a:cubicBezTo>
                    <a:pt x="3876" y="10992"/>
                    <a:pt x="3425" y="10353"/>
                    <a:pt x="3425" y="9637"/>
                  </a:cubicBezTo>
                  <a:cubicBezTo>
                    <a:pt x="3425" y="8920"/>
                    <a:pt x="3876" y="8281"/>
                    <a:pt x="4554" y="8047"/>
                  </a:cubicBezTo>
                  <a:lnTo>
                    <a:pt x="4554" y="2825"/>
                  </a:lnTo>
                  <a:cubicBezTo>
                    <a:pt x="4554" y="2512"/>
                    <a:pt x="4807" y="2259"/>
                    <a:pt x="5120" y="2259"/>
                  </a:cubicBezTo>
                  <a:close/>
                  <a:moveTo>
                    <a:pt x="9637" y="2259"/>
                  </a:moveTo>
                  <a:cubicBezTo>
                    <a:pt x="9947" y="2259"/>
                    <a:pt x="10200" y="2512"/>
                    <a:pt x="10200" y="2825"/>
                  </a:cubicBezTo>
                  <a:lnTo>
                    <a:pt x="10200" y="4659"/>
                  </a:lnTo>
                  <a:cubicBezTo>
                    <a:pt x="10877" y="4894"/>
                    <a:pt x="11329" y="5532"/>
                    <a:pt x="11329" y="6249"/>
                  </a:cubicBezTo>
                  <a:cubicBezTo>
                    <a:pt x="11329" y="6966"/>
                    <a:pt x="10877" y="7604"/>
                    <a:pt x="10200" y="7839"/>
                  </a:cubicBezTo>
                  <a:lnTo>
                    <a:pt x="10200" y="13024"/>
                  </a:lnTo>
                  <a:cubicBezTo>
                    <a:pt x="10200" y="13337"/>
                    <a:pt x="9947" y="13587"/>
                    <a:pt x="9637" y="13587"/>
                  </a:cubicBezTo>
                  <a:cubicBezTo>
                    <a:pt x="9324" y="13587"/>
                    <a:pt x="9071" y="13337"/>
                    <a:pt x="9071" y="13024"/>
                  </a:cubicBezTo>
                  <a:lnTo>
                    <a:pt x="9071" y="7839"/>
                  </a:lnTo>
                  <a:cubicBezTo>
                    <a:pt x="8393" y="7604"/>
                    <a:pt x="7941" y="6966"/>
                    <a:pt x="7941" y="6249"/>
                  </a:cubicBezTo>
                  <a:cubicBezTo>
                    <a:pt x="7941" y="5532"/>
                    <a:pt x="8393" y="4894"/>
                    <a:pt x="9071" y="4659"/>
                  </a:cubicBezTo>
                  <a:lnTo>
                    <a:pt x="9071" y="2825"/>
                  </a:lnTo>
                  <a:cubicBezTo>
                    <a:pt x="9071" y="2512"/>
                    <a:pt x="9324" y="2259"/>
                    <a:pt x="9637" y="2259"/>
                  </a:cubicBezTo>
                  <a:close/>
                  <a:moveTo>
                    <a:pt x="14154" y="2259"/>
                  </a:moveTo>
                  <a:cubicBezTo>
                    <a:pt x="14464" y="2259"/>
                    <a:pt x="14717" y="2512"/>
                    <a:pt x="14717" y="2825"/>
                  </a:cubicBezTo>
                  <a:lnTo>
                    <a:pt x="14717" y="8047"/>
                  </a:lnTo>
                  <a:cubicBezTo>
                    <a:pt x="15394" y="8281"/>
                    <a:pt x="15846" y="8920"/>
                    <a:pt x="15846" y="9637"/>
                  </a:cubicBezTo>
                  <a:cubicBezTo>
                    <a:pt x="15846" y="10353"/>
                    <a:pt x="15394" y="10992"/>
                    <a:pt x="14717" y="11226"/>
                  </a:cubicBezTo>
                  <a:lnTo>
                    <a:pt x="14717" y="13024"/>
                  </a:lnTo>
                  <a:cubicBezTo>
                    <a:pt x="14717" y="13337"/>
                    <a:pt x="14464" y="13587"/>
                    <a:pt x="14154" y="13587"/>
                  </a:cubicBezTo>
                  <a:cubicBezTo>
                    <a:pt x="13840" y="13587"/>
                    <a:pt x="13587" y="13337"/>
                    <a:pt x="13587" y="13024"/>
                  </a:cubicBezTo>
                  <a:lnTo>
                    <a:pt x="13587" y="11226"/>
                  </a:lnTo>
                  <a:cubicBezTo>
                    <a:pt x="12910" y="10992"/>
                    <a:pt x="12458" y="10353"/>
                    <a:pt x="12458" y="9637"/>
                  </a:cubicBezTo>
                  <a:cubicBezTo>
                    <a:pt x="12458" y="8920"/>
                    <a:pt x="12910" y="8281"/>
                    <a:pt x="13587" y="8047"/>
                  </a:cubicBezTo>
                  <a:lnTo>
                    <a:pt x="13587" y="2825"/>
                  </a:lnTo>
                  <a:cubicBezTo>
                    <a:pt x="13587" y="2512"/>
                    <a:pt x="13840" y="2259"/>
                    <a:pt x="14154" y="2259"/>
                  </a:cubicBezTo>
                  <a:close/>
                  <a:moveTo>
                    <a:pt x="1693" y="1"/>
                  </a:moveTo>
                  <a:cubicBezTo>
                    <a:pt x="757" y="1"/>
                    <a:pt x="1" y="759"/>
                    <a:pt x="1" y="1696"/>
                  </a:cubicBezTo>
                  <a:lnTo>
                    <a:pt x="1" y="14720"/>
                  </a:lnTo>
                  <a:lnTo>
                    <a:pt x="19273" y="14720"/>
                  </a:lnTo>
                  <a:lnTo>
                    <a:pt x="19273" y="1696"/>
                  </a:lnTo>
                  <a:cubicBezTo>
                    <a:pt x="19270" y="759"/>
                    <a:pt x="18514" y="1"/>
                    <a:pt x="1757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56" name="Google Shape;10770;p104">
            <a:extLst>
              <a:ext uri="{FF2B5EF4-FFF2-40B4-BE49-F238E27FC236}">
                <a16:creationId xmlns:a16="http://schemas.microsoft.com/office/drawing/2014/main" id="{FCC826DF-8FD4-2BED-6CBD-3C71CDCB7BD6}"/>
              </a:ext>
            </a:extLst>
          </p:cNvPr>
          <p:cNvGrpSpPr/>
          <p:nvPr/>
        </p:nvGrpSpPr>
        <p:grpSpPr>
          <a:xfrm>
            <a:off x="9815625" y="3325417"/>
            <a:ext cx="475013" cy="660717"/>
            <a:chOff x="-45277900" y="3938500"/>
            <a:chExt cx="244975" cy="300100"/>
          </a:xfrm>
          <a:solidFill>
            <a:schemeClr val="tx2">
              <a:lumMod val="75000"/>
              <a:lumOff val="25000"/>
            </a:schemeClr>
          </a:solidFill>
        </p:grpSpPr>
        <p:sp>
          <p:nvSpPr>
            <p:cNvPr id="59" name="Google Shape;10771;p104">
              <a:extLst>
                <a:ext uri="{FF2B5EF4-FFF2-40B4-BE49-F238E27FC236}">
                  <a16:creationId xmlns:a16="http://schemas.microsoft.com/office/drawing/2014/main" id="{7B73F52D-5E00-074E-330E-44A44504F0D4}"/>
                </a:ext>
              </a:extLst>
            </p:cNvPr>
            <p:cNvSpPr/>
            <p:nvPr/>
          </p:nvSpPr>
          <p:spPr>
            <a:xfrm>
              <a:off x="-45210950" y="4107825"/>
              <a:ext cx="23650" cy="24450"/>
            </a:xfrm>
            <a:custGeom>
              <a:avLst/>
              <a:gdLst/>
              <a:ahLst/>
              <a:cxnLst/>
              <a:rect l="l" t="t" r="r" b="b"/>
              <a:pathLst>
                <a:path w="946" h="978" extrusionOk="0">
                  <a:moveTo>
                    <a:pt x="473" y="1"/>
                  </a:moveTo>
                  <a:lnTo>
                    <a:pt x="1" y="978"/>
                  </a:lnTo>
                  <a:lnTo>
                    <a:pt x="946" y="978"/>
                  </a:lnTo>
                  <a:lnTo>
                    <a:pt x="4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10772;p104">
              <a:extLst>
                <a:ext uri="{FF2B5EF4-FFF2-40B4-BE49-F238E27FC236}">
                  <a16:creationId xmlns:a16="http://schemas.microsoft.com/office/drawing/2014/main" id="{239BFC31-892A-C10B-7F30-A8EACE38824D}"/>
                </a:ext>
              </a:extLst>
            </p:cNvPr>
            <p:cNvSpPr/>
            <p:nvPr/>
          </p:nvSpPr>
          <p:spPr>
            <a:xfrm>
              <a:off x="-45084925" y="3943225"/>
              <a:ext cx="47275" cy="47275"/>
            </a:xfrm>
            <a:custGeom>
              <a:avLst/>
              <a:gdLst/>
              <a:ahLst/>
              <a:cxnLst/>
              <a:rect l="l" t="t" r="r" b="b"/>
              <a:pathLst>
                <a:path w="1891" h="1891" extrusionOk="0">
                  <a:moveTo>
                    <a:pt x="1" y="0"/>
                  </a:moveTo>
                  <a:lnTo>
                    <a:pt x="1" y="1891"/>
                  </a:lnTo>
                  <a:lnTo>
                    <a:pt x="1891" y="1891"/>
                  </a:lnTo>
                  <a:lnTo>
                    <a:pt x="1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0773;p104">
              <a:extLst>
                <a:ext uri="{FF2B5EF4-FFF2-40B4-BE49-F238E27FC236}">
                  <a16:creationId xmlns:a16="http://schemas.microsoft.com/office/drawing/2014/main" id="{E991F2B3-536C-8600-5A40-BAAE597B9932}"/>
                </a:ext>
              </a:extLst>
            </p:cNvPr>
            <p:cNvSpPr/>
            <p:nvPr/>
          </p:nvSpPr>
          <p:spPr>
            <a:xfrm>
              <a:off x="-45260575" y="3938500"/>
              <a:ext cx="227650" cy="300100"/>
            </a:xfrm>
            <a:custGeom>
              <a:avLst/>
              <a:gdLst/>
              <a:ahLst/>
              <a:cxnLst/>
              <a:rect l="l" t="t" r="r" b="b"/>
              <a:pathLst>
                <a:path w="9106" h="1200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222"/>
                  </a:lnTo>
                  <a:lnTo>
                    <a:pt x="7342" y="4222"/>
                  </a:lnTo>
                  <a:cubicBezTo>
                    <a:pt x="7562" y="4222"/>
                    <a:pt x="7720" y="4380"/>
                    <a:pt x="7720" y="4600"/>
                  </a:cubicBezTo>
                  <a:lnTo>
                    <a:pt x="7720" y="10208"/>
                  </a:lnTo>
                  <a:cubicBezTo>
                    <a:pt x="7720" y="10428"/>
                    <a:pt x="7562" y="10586"/>
                    <a:pt x="7342" y="10586"/>
                  </a:cubicBezTo>
                  <a:lnTo>
                    <a:pt x="1" y="10586"/>
                  </a:lnTo>
                  <a:lnTo>
                    <a:pt x="1" y="11626"/>
                  </a:lnTo>
                  <a:cubicBezTo>
                    <a:pt x="1" y="11846"/>
                    <a:pt x="158" y="12004"/>
                    <a:pt x="348" y="12004"/>
                  </a:cubicBezTo>
                  <a:lnTo>
                    <a:pt x="8759" y="12004"/>
                  </a:lnTo>
                  <a:cubicBezTo>
                    <a:pt x="8980" y="12004"/>
                    <a:pt x="9106" y="11846"/>
                    <a:pt x="9106" y="11626"/>
                  </a:cubicBezTo>
                  <a:lnTo>
                    <a:pt x="9106" y="2804"/>
                  </a:lnTo>
                  <a:lnTo>
                    <a:pt x="6680" y="2804"/>
                  </a:lnTo>
                  <a:lnTo>
                    <a:pt x="6680" y="2773"/>
                  </a:lnTo>
                  <a:cubicBezTo>
                    <a:pt x="6491" y="2773"/>
                    <a:pt x="6333" y="2615"/>
                    <a:pt x="6333" y="2426"/>
                  </a:cubicBezTo>
                  <a:lnTo>
                    <a:pt x="633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0774;p104">
              <a:extLst>
                <a:ext uri="{FF2B5EF4-FFF2-40B4-BE49-F238E27FC236}">
                  <a16:creationId xmlns:a16="http://schemas.microsoft.com/office/drawing/2014/main" id="{5706473F-D5EF-8579-A51F-EA0642DC829E}"/>
                </a:ext>
              </a:extLst>
            </p:cNvPr>
            <p:cNvSpPr/>
            <p:nvPr/>
          </p:nvSpPr>
          <p:spPr>
            <a:xfrm>
              <a:off x="-45277900" y="4061375"/>
              <a:ext cx="193000" cy="122875"/>
            </a:xfrm>
            <a:custGeom>
              <a:avLst/>
              <a:gdLst/>
              <a:ahLst/>
              <a:cxnLst/>
              <a:rect l="l" t="t" r="r" b="b"/>
              <a:pathLst>
                <a:path w="7720" h="4915" extrusionOk="0">
                  <a:moveTo>
                    <a:pt x="5987" y="693"/>
                  </a:moveTo>
                  <a:cubicBezTo>
                    <a:pt x="6207" y="693"/>
                    <a:pt x="6333" y="851"/>
                    <a:pt x="6333" y="1071"/>
                  </a:cubicBezTo>
                  <a:cubicBezTo>
                    <a:pt x="6302" y="1260"/>
                    <a:pt x="6144" y="1418"/>
                    <a:pt x="5987" y="1418"/>
                  </a:cubicBezTo>
                  <a:cubicBezTo>
                    <a:pt x="5798" y="1418"/>
                    <a:pt x="5640" y="1260"/>
                    <a:pt x="5640" y="1071"/>
                  </a:cubicBezTo>
                  <a:cubicBezTo>
                    <a:pt x="5640" y="851"/>
                    <a:pt x="5798" y="693"/>
                    <a:pt x="5987" y="693"/>
                  </a:cubicBezTo>
                  <a:close/>
                  <a:moveTo>
                    <a:pt x="3246" y="701"/>
                  </a:moveTo>
                  <a:cubicBezTo>
                    <a:pt x="3372" y="701"/>
                    <a:pt x="3498" y="772"/>
                    <a:pt x="3561" y="914"/>
                  </a:cubicBezTo>
                  <a:lnTo>
                    <a:pt x="4979" y="3686"/>
                  </a:lnTo>
                  <a:cubicBezTo>
                    <a:pt x="4979" y="3907"/>
                    <a:pt x="4884" y="4096"/>
                    <a:pt x="4727" y="4159"/>
                  </a:cubicBezTo>
                  <a:cubicBezTo>
                    <a:pt x="4695" y="4222"/>
                    <a:pt x="4601" y="4222"/>
                    <a:pt x="4569" y="4222"/>
                  </a:cubicBezTo>
                  <a:cubicBezTo>
                    <a:pt x="4443" y="4222"/>
                    <a:pt x="4349" y="4127"/>
                    <a:pt x="4254" y="4001"/>
                  </a:cubicBezTo>
                  <a:lnTo>
                    <a:pt x="4033" y="3497"/>
                  </a:lnTo>
                  <a:lnTo>
                    <a:pt x="2364" y="3497"/>
                  </a:lnTo>
                  <a:lnTo>
                    <a:pt x="2143" y="4001"/>
                  </a:lnTo>
                  <a:cubicBezTo>
                    <a:pt x="2075" y="4115"/>
                    <a:pt x="1940" y="4196"/>
                    <a:pt x="1811" y="4196"/>
                  </a:cubicBezTo>
                  <a:cubicBezTo>
                    <a:pt x="1762" y="4196"/>
                    <a:pt x="1714" y="4185"/>
                    <a:pt x="1671" y="4159"/>
                  </a:cubicBezTo>
                  <a:cubicBezTo>
                    <a:pt x="1513" y="4096"/>
                    <a:pt x="1419" y="3844"/>
                    <a:pt x="1513" y="3686"/>
                  </a:cubicBezTo>
                  <a:lnTo>
                    <a:pt x="2931" y="914"/>
                  </a:lnTo>
                  <a:cubicBezTo>
                    <a:pt x="2994" y="772"/>
                    <a:pt x="3120" y="701"/>
                    <a:pt x="3246" y="701"/>
                  </a:cubicBezTo>
                  <a:close/>
                  <a:moveTo>
                    <a:pt x="5955" y="2079"/>
                  </a:moveTo>
                  <a:cubicBezTo>
                    <a:pt x="6144" y="2079"/>
                    <a:pt x="6302" y="2237"/>
                    <a:pt x="6302" y="2426"/>
                  </a:cubicBezTo>
                  <a:lnTo>
                    <a:pt x="6302" y="3844"/>
                  </a:lnTo>
                  <a:cubicBezTo>
                    <a:pt x="6302" y="4064"/>
                    <a:pt x="6144" y="4222"/>
                    <a:pt x="5955" y="4222"/>
                  </a:cubicBezTo>
                  <a:cubicBezTo>
                    <a:pt x="5766" y="4222"/>
                    <a:pt x="5609" y="4064"/>
                    <a:pt x="5609" y="3844"/>
                  </a:cubicBezTo>
                  <a:lnTo>
                    <a:pt x="5609" y="2426"/>
                  </a:lnTo>
                  <a:cubicBezTo>
                    <a:pt x="5609" y="2237"/>
                    <a:pt x="5766" y="2079"/>
                    <a:pt x="5955" y="2079"/>
                  </a:cubicBez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4568"/>
                  </a:lnTo>
                  <a:cubicBezTo>
                    <a:pt x="1" y="4757"/>
                    <a:pt x="158" y="4915"/>
                    <a:pt x="347" y="4915"/>
                  </a:cubicBezTo>
                  <a:lnTo>
                    <a:pt x="7720" y="4915"/>
                  </a:lnTo>
                  <a:lnTo>
                    <a:pt x="772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" name="Google Shape;4727;p94">
            <a:extLst>
              <a:ext uri="{FF2B5EF4-FFF2-40B4-BE49-F238E27FC236}">
                <a16:creationId xmlns:a16="http://schemas.microsoft.com/office/drawing/2014/main" id="{8469FCB0-5F2C-656F-59E0-471B4BE9F61F}"/>
              </a:ext>
            </a:extLst>
          </p:cNvPr>
          <p:cNvSpPr/>
          <p:nvPr/>
        </p:nvSpPr>
        <p:spPr>
          <a:xfrm rot="19986279">
            <a:off x="8923564" y="2660572"/>
            <a:ext cx="414802" cy="236547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4727;p94">
            <a:extLst>
              <a:ext uri="{FF2B5EF4-FFF2-40B4-BE49-F238E27FC236}">
                <a16:creationId xmlns:a16="http://schemas.microsoft.com/office/drawing/2014/main" id="{F08CB67D-D8C9-1EB5-73EE-60DD8F0CC3FD}"/>
              </a:ext>
            </a:extLst>
          </p:cNvPr>
          <p:cNvSpPr/>
          <p:nvPr/>
        </p:nvSpPr>
        <p:spPr>
          <a:xfrm rot="1394131">
            <a:off x="8941419" y="3076198"/>
            <a:ext cx="414802" cy="236547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2961;p63">
            <a:extLst>
              <a:ext uri="{FF2B5EF4-FFF2-40B4-BE49-F238E27FC236}">
                <a16:creationId xmlns:a16="http://schemas.microsoft.com/office/drawing/2014/main" id="{E04C895A-60DA-BDCA-0CEB-D48D5ED095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Medallion Architecture</a:t>
            </a:r>
            <a:endParaRPr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F44B575-D5A9-DDC7-657B-EFF32D2C1553}"/>
              </a:ext>
            </a:extLst>
          </p:cNvPr>
          <p:cNvSpPr txBox="1"/>
          <p:nvPr/>
        </p:nvSpPr>
        <p:spPr>
          <a:xfrm>
            <a:off x="1141230" y="1475911"/>
            <a:ext cx="1150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Data: Ingested as .csv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E0DBFA0-5848-B158-F63A-F4ED94B6F05F}"/>
              </a:ext>
            </a:extLst>
          </p:cNvPr>
          <p:cNvSpPr txBox="1"/>
          <p:nvPr/>
        </p:nvSpPr>
        <p:spPr>
          <a:xfrm>
            <a:off x="2880853" y="1491372"/>
            <a:ext cx="154611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Bronze: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 by month and saved as parquet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Raw data dump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 processing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E148CBDD-77FC-892C-8BDB-BE2DFCAAC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31" y="3799661"/>
            <a:ext cx="1466140" cy="1291202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4DDA721C-CACB-CB4E-C585-442A1B7B44A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812900" y="3752042"/>
            <a:ext cx="1682027" cy="2684209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913C4A09-B1E3-54D8-2493-4F05A72F52A2}"/>
              </a:ext>
            </a:extLst>
          </p:cNvPr>
          <p:cNvSpPr txBox="1"/>
          <p:nvPr/>
        </p:nvSpPr>
        <p:spPr>
          <a:xfrm>
            <a:off x="4991698" y="1462935"/>
            <a:ext cx="168592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Silver: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 by month and saved as parquet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Type enforcement</a:t>
            </a:r>
          </a:p>
          <a:p>
            <a:r>
              <a:rPr lang="en-SG" sz="1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 Quality Handling</a:t>
            </a:r>
          </a:p>
        </p:txBody>
      </p:sp>
    </p:spTree>
    <p:extLst>
      <p:ext uri="{BB962C8B-B14F-4D97-AF65-F5344CB8AC3E}">
        <p14:creationId xmlns:p14="http://schemas.microsoft.com/office/powerpoint/2010/main" val="599812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7831160-FF5C-86B0-F841-BB51BB08A1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741352"/>
              </p:ext>
            </p:extLst>
          </p:nvPr>
        </p:nvGraphicFramePr>
        <p:xfrm>
          <a:off x="708708" y="1528068"/>
          <a:ext cx="10738223" cy="4716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94">
                  <a:extLst>
                    <a:ext uri="{9D8B030D-6E8A-4147-A177-3AD203B41FA5}">
                      <a16:colId xmlns:a16="http://schemas.microsoft.com/office/drawing/2014/main" val="4183567641"/>
                    </a:ext>
                  </a:extLst>
                </a:gridCol>
                <a:gridCol w="5338077">
                  <a:extLst>
                    <a:ext uri="{9D8B030D-6E8A-4147-A177-3AD203B41FA5}">
                      <a16:colId xmlns:a16="http://schemas.microsoft.com/office/drawing/2014/main" val="4188362888"/>
                    </a:ext>
                  </a:extLst>
                </a:gridCol>
                <a:gridCol w="2603652">
                  <a:extLst>
                    <a:ext uri="{9D8B030D-6E8A-4147-A177-3AD203B41FA5}">
                      <a16:colId xmlns:a16="http://schemas.microsoft.com/office/drawing/2014/main" val="1637928354"/>
                    </a:ext>
                  </a:extLst>
                </a:gridCol>
              </a:tblGrid>
              <a:tr h="369462">
                <a:tc>
                  <a:txBody>
                    <a:bodyPr/>
                    <a:lstStyle/>
                    <a:p>
                      <a:endParaRPr lang="en-SG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712818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features_attributes.csv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“SSN” contain values “#F%$D@*&amp;8” not following convention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3353542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features_attributes.csv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“Occupation” column contain invalid “_______”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23072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features_attributes.csv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“Age” column contains large invalid values</a:t>
                      </a:r>
                    </a:p>
                    <a:p>
                      <a:r>
                        <a:rPr lang="en-SG" sz="1400" dirty="0"/>
                        <a:t>“Age” containing numeric values suffixed with ‘_’</a:t>
                      </a:r>
                    </a:p>
                    <a:p>
                      <a:r>
                        <a:rPr lang="en-SG" sz="1400" dirty="0"/>
                        <a:t>“Age” column containing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Create “</a:t>
                      </a:r>
                      <a:r>
                        <a:rPr lang="en-SG" sz="1400" dirty="0" err="1"/>
                        <a:t>Age_valid</a:t>
                      </a:r>
                      <a:r>
                        <a:rPr lang="en-SG" sz="1400" dirty="0"/>
                        <a:t>” binary flag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Remove ‘_’ suffix</a:t>
                      </a:r>
                    </a:p>
                    <a:p>
                      <a:r>
                        <a:rPr lang="en-SG" sz="1400" dirty="0"/>
                        <a:t>Replace with </a:t>
                      </a:r>
                      <a:r>
                        <a:rPr lang="en-SG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39898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“Annual_Income” containing numeric values suffixed with ‘_’</a:t>
                      </a:r>
                    </a:p>
                    <a:p>
                      <a:r>
                        <a:rPr lang="en-US" sz="1400" dirty="0"/>
                        <a:t>“Annual_Income” </a:t>
                      </a:r>
                      <a:r>
                        <a:rPr lang="en-SG" sz="1400" dirty="0"/>
                        <a:t>contain inconsistent 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Remove ‘_’ suffix</a:t>
                      </a:r>
                    </a:p>
                    <a:p>
                      <a:r>
                        <a:rPr lang="en-US" sz="1400" dirty="0"/>
                        <a:t>Standardize rounding to 2d.p.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09652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Num_Bank_Accounts</a:t>
                      </a:r>
                      <a:r>
                        <a:rPr lang="en-SG" sz="1400" dirty="0"/>
                        <a:t>” containing invalid negative values</a:t>
                      </a:r>
                    </a:p>
                    <a:p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Num_Bank_Accounts</a:t>
                      </a:r>
                      <a:r>
                        <a:rPr lang="en-SG" sz="1400" dirty="0"/>
                        <a:t>” containing large invalid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Cap values at 11*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7321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Num_Credit_Card</a:t>
                      </a:r>
                      <a:r>
                        <a:rPr lang="en-US" sz="1400" dirty="0"/>
                        <a:t>” containing invalid large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Cap values at 11*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4194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Interest_Rate</a:t>
                      </a:r>
                      <a:r>
                        <a:rPr lang="en-US" sz="1400" dirty="0"/>
                        <a:t>” containing invalid large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Cap values at 34*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07379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Num_of_Loan</a:t>
                      </a:r>
                      <a:r>
                        <a:rPr lang="en-US" sz="1400" dirty="0"/>
                        <a:t>” contain invalid numeric values suffixed with ‘_’</a:t>
                      </a:r>
                    </a:p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Num_of_Loan</a:t>
                      </a:r>
                      <a:r>
                        <a:rPr lang="en-US" sz="1400" dirty="0"/>
                        <a:t>” contain negative values</a:t>
                      </a:r>
                    </a:p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Num_of_Loan</a:t>
                      </a:r>
                      <a:r>
                        <a:rPr lang="en-US" sz="1400" dirty="0"/>
                        <a:t>” contain invalid large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Remove ‘_’ suffix</a:t>
                      </a:r>
                      <a:endParaRPr lang="en-SG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  <a:p>
                      <a:r>
                        <a:rPr lang="en-US" sz="1400" dirty="0"/>
                        <a:t>Cap values at 9*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93851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Delay_from_due_date</a:t>
                      </a:r>
                      <a:r>
                        <a:rPr lang="en-US" sz="1400" dirty="0"/>
                        <a:t>” contains negative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 handling business to advice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18481"/>
                  </a:ext>
                </a:extLst>
              </a:tr>
            </a:tbl>
          </a:graphicData>
        </a:graphic>
      </p:graphicFrame>
      <p:sp>
        <p:nvSpPr>
          <p:cNvPr id="4" name="Google Shape;2962;p63">
            <a:extLst>
              <a:ext uri="{FF2B5EF4-FFF2-40B4-BE49-F238E27FC236}">
                <a16:creationId xmlns:a16="http://schemas.microsoft.com/office/drawing/2014/main" id="{D782BE58-C4DE-3500-1F07-A9B323857AD1}"/>
              </a:ext>
            </a:extLst>
          </p:cNvPr>
          <p:cNvSpPr txBox="1">
            <a:spLocks/>
          </p:cNvSpPr>
          <p:nvPr/>
        </p:nvSpPr>
        <p:spPr>
          <a:xfrm>
            <a:off x="3522133" y="1103491"/>
            <a:ext cx="5294489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Data Quality Issue</a:t>
            </a:r>
          </a:p>
        </p:txBody>
      </p:sp>
      <p:sp>
        <p:nvSpPr>
          <p:cNvPr id="5" name="Google Shape;2963;p63">
            <a:extLst>
              <a:ext uri="{FF2B5EF4-FFF2-40B4-BE49-F238E27FC236}">
                <a16:creationId xmlns:a16="http://schemas.microsoft.com/office/drawing/2014/main" id="{26DA7DC1-474B-A5AE-CC09-74346F445FEA}"/>
              </a:ext>
            </a:extLst>
          </p:cNvPr>
          <p:cNvSpPr txBox="1">
            <a:spLocks/>
          </p:cNvSpPr>
          <p:nvPr/>
        </p:nvSpPr>
        <p:spPr>
          <a:xfrm>
            <a:off x="8850488" y="1103492"/>
            <a:ext cx="2585161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Handling</a:t>
            </a:r>
          </a:p>
        </p:txBody>
      </p:sp>
      <p:sp>
        <p:nvSpPr>
          <p:cNvPr id="7" name="Google Shape;2962;p63">
            <a:extLst>
              <a:ext uri="{FF2B5EF4-FFF2-40B4-BE49-F238E27FC236}">
                <a16:creationId xmlns:a16="http://schemas.microsoft.com/office/drawing/2014/main" id="{86D10C29-CF55-4435-B019-0D588A98CAA7}"/>
              </a:ext>
            </a:extLst>
          </p:cNvPr>
          <p:cNvSpPr txBox="1">
            <a:spLocks/>
          </p:cNvSpPr>
          <p:nvPr/>
        </p:nvSpPr>
        <p:spPr>
          <a:xfrm>
            <a:off x="719998" y="1103491"/>
            <a:ext cx="2768269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22B70-0905-A6C4-2BE7-96E3AD2660FB}"/>
              </a:ext>
            </a:extLst>
          </p:cNvPr>
          <p:cNvSpPr txBox="1"/>
          <p:nvPr/>
        </p:nvSpPr>
        <p:spPr>
          <a:xfrm>
            <a:off x="3968100" y="6520078"/>
            <a:ext cx="8223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 Invalid values handling derived based on data exploration, business to confirm correct maximum values</a:t>
            </a:r>
            <a:endParaRPr lang="en-SG" sz="1400" dirty="0"/>
          </a:p>
        </p:txBody>
      </p:sp>
      <p:sp>
        <p:nvSpPr>
          <p:cNvPr id="10" name="Google Shape;2961;p63">
            <a:extLst>
              <a:ext uri="{FF2B5EF4-FFF2-40B4-BE49-F238E27FC236}">
                <a16:creationId xmlns:a16="http://schemas.microsoft.com/office/drawing/2014/main" id="{7D6FDFC5-9F5D-99A2-DB41-D390A7528B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 Data Quality Handling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56086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6192E-E4D1-8EB5-DA9D-193C5E1A5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BD7F82-9526-87CE-38EA-33B0754383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684758"/>
              </p:ext>
            </p:extLst>
          </p:nvPr>
        </p:nvGraphicFramePr>
        <p:xfrm>
          <a:off x="708708" y="1539352"/>
          <a:ext cx="10738223" cy="4936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94">
                  <a:extLst>
                    <a:ext uri="{9D8B030D-6E8A-4147-A177-3AD203B41FA5}">
                      <a16:colId xmlns:a16="http://schemas.microsoft.com/office/drawing/2014/main" val="4183567641"/>
                    </a:ext>
                  </a:extLst>
                </a:gridCol>
                <a:gridCol w="5338077">
                  <a:extLst>
                    <a:ext uri="{9D8B030D-6E8A-4147-A177-3AD203B41FA5}">
                      <a16:colId xmlns:a16="http://schemas.microsoft.com/office/drawing/2014/main" val="4188362888"/>
                    </a:ext>
                  </a:extLst>
                </a:gridCol>
                <a:gridCol w="2603652">
                  <a:extLst>
                    <a:ext uri="{9D8B030D-6E8A-4147-A177-3AD203B41FA5}">
                      <a16:colId xmlns:a16="http://schemas.microsoft.com/office/drawing/2014/main" val="1637928354"/>
                    </a:ext>
                  </a:extLst>
                </a:gridCol>
              </a:tblGrid>
              <a:tr h="369462">
                <a:tc>
                  <a:txBody>
                    <a:bodyPr/>
                    <a:lstStyle/>
                    <a:p>
                      <a:endParaRPr lang="en-SG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712818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Num_of_Delayed_Payment</a:t>
                      </a:r>
                      <a:r>
                        <a:rPr lang="en-SG" sz="1400" dirty="0"/>
                        <a:t>” contain numeric suffixed with ‘_’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Num_of_Delayed_Payment</a:t>
                      </a:r>
                      <a:r>
                        <a:rPr lang="en-SG" sz="1400" dirty="0"/>
                        <a:t>” contain invalid large values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Num_of_Delayed_Payment</a:t>
                      </a:r>
                      <a:r>
                        <a:rPr lang="en-SG" sz="1400" dirty="0"/>
                        <a:t>” contain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Remove ‘_’ suffix</a:t>
                      </a:r>
                      <a:endParaRPr lang="en-SG" sz="1400" dirty="0"/>
                    </a:p>
                    <a:p>
                      <a:r>
                        <a:rPr lang="en-SG" sz="1400" dirty="0"/>
                        <a:t>Cap values at 28*</a:t>
                      </a:r>
                    </a:p>
                    <a:p>
                      <a:r>
                        <a:rPr lang="en-SG" sz="1400" dirty="0"/>
                        <a:t>No handling business to advice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47661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Changed_Credit_Limit</a:t>
                      </a:r>
                      <a:r>
                        <a:rPr lang="en-SG" sz="1400" dirty="0"/>
                        <a:t>” contain invalid values ‘_’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Changed_Credit_Limit</a:t>
                      </a:r>
                      <a:r>
                        <a:rPr lang="en-SG" sz="1400" dirty="0"/>
                        <a:t>” contain inconsistent rounding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Changed_Credit_Limit</a:t>
                      </a:r>
                      <a:r>
                        <a:rPr lang="en-SG" sz="1400" dirty="0"/>
                        <a:t>” contain negative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US" sz="1400" dirty="0"/>
                    </a:p>
                    <a:p>
                      <a:r>
                        <a:rPr lang="en-US" sz="1400" dirty="0"/>
                        <a:t>Standardize rounding to 2d.p.</a:t>
                      </a:r>
                    </a:p>
                    <a:p>
                      <a:r>
                        <a:rPr lang="en-US" sz="1400" dirty="0"/>
                        <a:t>No handling business to advice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17765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Credit_Mix</a:t>
                      </a:r>
                      <a:r>
                        <a:rPr lang="en-US" sz="1400" dirty="0"/>
                        <a:t>” contain invalid “_”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3353542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Outstanding_Debt</a:t>
                      </a:r>
                      <a:r>
                        <a:rPr lang="en-US" sz="1400" dirty="0"/>
                        <a:t>” containing numeric values suffixed with ‘_’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Remove ‘_’ suffix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4230727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Credit_History_Age</a:t>
                      </a:r>
                      <a:r>
                        <a:rPr lang="en-US" sz="1400" dirty="0"/>
                        <a:t>” in format of “X Years and Y Months”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Convert to int no. of months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09652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G" sz="1400" dirty="0"/>
                        <a:t>“</a:t>
                      </a:r>
                      <a:r>
                        <a:rPr lang="en-SG" sz="1400" dirty="0" err="1"/>
                        <a:t>Payment_of_Min_Amount</a:t>
                      </a:r>
                      <a:r>
                        <a:rPr lang="en-SG" sz="1400" dirty="0"/>
                        <a:t>” contains {Yes, No, NM}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Business to advice ‘NM’ validity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73210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Amount_invested_monthly</a:t>
                      </a:r>
                      <a:r>
                        <a:rPr lang="en-US" sz="1400" dirty="0"/>
                        <a:t>” containing invalid ‘__10000__’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Remove both prefix and suffix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34194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Payment_Behaviour</a:t>
                      </a:r>
                      <a:r>
                        <a:rPr lang="en-US" sz="1400" dirty="0"/>
                        <a:t>” containing invalid ‘!@9#%8’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5073793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Monthly_Balance</a:t>
                      </a:r>
                      <a:r>
                        <a:rPr lang="en-US" sz="1400" dirty="0"/>
                        <a:t>” contain invalid ‘__-333333333333333333333333333__’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Replace with </a:t>
                      </a:r>
                      <a:r>
                        <a:rPr lang="en-US" sz="1400" dirty="0" err="1"/>
                        <a:t>np.nan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938516"/>
                  </a:ext>
                </a:extLst>
              </a:tr>
              <a:tr h="369462">
                <a:tc>
                  <a:txBody>
                    <a:bodyPr/>
                    <a:lstStyle/>
                    <a:p>
                      <a:r>
                        <a:rPr lang="en-US" sz="1400" dirty="0"/>
                        <a:t>features_financials.csv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“</a:t>
                      </a:r>
                      <a:r>
                        <a:rPr lang="en-US" sz="1400" dirty="0" err="1"/>
                        <a:t>Type_of_Loan</a:t>
                      </a:r>
                      <a:r>
                        <a:rPr lang="en-US" sz="1400" dirty="0"/>
                        <a:t>” contains 11.4% missing values</a:t>
                      </a:r>
                      <a:endParaRPr lang="en-SG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Business to clarify if expected</a:t>
                      </a:r>
                      <a:endParaRPr lang="en-SG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18481"/>
                  </a:ext>
                </a:extLst>
              </a:tr>
            </a:tbl>
          </a:graphicData>
        </a:graphic>
      </p:graphicFrame>
      <p:sp>
        <p:nvSpPr>
          <p:cNvPr id="4" name="Google Shape;2962;p63">
            <a:extLst>
              <a:ext uri="{FF2B5EF4-FFF2-40B4-BE49-F238E27FC236}">
                <a16:creationId xmlns:a16="http://schemas.microsoft.com/office/drawing/2014/main" id="{B828AABB-0643-B576-DAB3-708766903C10}"/>
              </a:ext>
            </a:extLst>
          </p:cNvPr>
          <p:cNvSpPr txBox="1">
            <a:spLocks/>
          </p:cNvSpPr>
          <p:nvPr/>
        </p:nvSpPr>
        <p:spPr>
          <a:xfrm>
            <a:off x="3522133" y="1114775"/>
            <a:ext cx="5294489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Data Quality Issue</a:t>
            </a:r>
          </a:p>
        </p:txBody>
      </p:sp>
      <p:sp>
        <p:nvSpPr>
          <p:cNvPr id="5" name="Google Shape;2963;p63">
            <a:extLst>
              <a:ext uri="{FF2B5EF4-FFF2-40B4-BE49-F238E27FC236}">
                <a16:creationId xmlns:a16="http://schemas.microsoft.com/office/drawing/2014/main" id="{7AEF5885-B196-2568-4DE1-9716A1376088}"/>
              </a:ext>
            </a:extLst>
          </p:cNvPr>
          <p:cNvSpPr txBox="1">
            <a:spLocks/>
          </p:cNvSpPr>
          <p:nvPr/>
        </p:nvSpPr>
        <p:spPr>
          <a:xfrm>
            <a:off x="8850488" y="1114776"/>
            <a:ext cx="2585161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Handling</a:t>
            </a:r>
          </a:p>
        </p:txBody>
      </p:sp>
      <p:sp>
        <p:nvSpPr>
          <p:cNvPr id="7" name="Google Shape;2962;p63">
            <a:extLst>
              <a:ext uri="{FF2B5EF4-FFF2-40B4-BE49-F238E27FC236}">
                <a16:creationId xmlns:a16="http://schemas.microsoft.com/office/drawing/2014/main" id="{E11C84A0-34D3-1971-575B-461A27C67275}"/>
              </a:ext>
            </a:extLst>
          </p:cNvPr>
          <p:cNvSpPr txBox="1">
            <a:spLocks/>
          </p:cNvSpPr>
          <p:nvPr/>
        </p:nvSpPr>
        <p:spPr>
          <a:xfrm>
            <a:off x="719998" y="1114775"/>
            <a:ext cx="2768269" cy="754781"/>
          </a:xfrm>
          <a:prstGeom prst="rect">
            <a:avLst/>
          </a:prstGeom>
          <a:solidFill>
            <a:srgbClr val="002060"/>
          </a:solidFill>
        </p:spPr>
        <p:txBody>
          <a:bodyPr spcFirstLastPara="1" wrap="square"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SG" dirty="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2" name="Google Shape;2961;p63">
            <a:extLst>
              <a:ext uri="{FF2B5EF4-FFF2-40B4-BE49-F238E27FC236}">
                <a16:creationId xmlns:a16="http://schemas.microsoft.com/office/drawing/2014/main" id="{1D2C6203-AFDC-BCF2-1859-5FC029AF67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sz="2800" dirty="0"/>
              <a:t>Silver Table Data Quality Handling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FE43E-7A63-C2F4-0AA0-505E06838FA3}"/>
              </a:ext>
            </a:extLst>
          </p:cNvPr>
          <p:cNvSpPr txBox="1"/>
          <p:nvPr/>
        </p:nvSpPr>
        <p:spPr>
          <a:xfrm>
            <a:off x="3968100" y="6520078"/>
            <a:ext cx="8223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 Invalid values handling derived based on data exploration, business to confirm correct maximum values</a:t>
            </a:r>
            <a:endParaRPr lang="en-SG" sz="1400" dirty="0"/>
          </a:p>
        </p:txBody>
      </p:sp>
    </p:spTree>
    <p:extLst>
      <p:ext uri="{BB962C8B-B14F-4D97-AF65-F5344CB8AC3E}">
        <p14:creationId xmlns:p14="http://schemas.microsoft.com/office/powerpoint/2010/main" val="3361372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1727</TotalTime>
  <Words>675</Words>
  <Application>Microsoft Office PowerPoint</Application>
  <PresentationFormat>Widescreen</PresentationFormat>
  <Paragraphs>101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Open Sans</vt:lpstr>
      <vt:lpstr>Office Theme</vt:lpstr>
      <vt:lpstr>Feature Store &amp; Data Pipeline</vt:lpstr>
      <vt:lpstr>Medallion Architecture</vt:lpstr>
      <vt:lpstr>Silver Table Data Quality Handling</vt:lpstr>
      <vt:lpstr>Silver Table Data Quality Handling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Yuan Yue</dc:creator>
  <cp:lastModifiedBy>Jun Yuan Yue</cp:lastModifiedBy>
  <cp:revision>5</cp:revision>
  <dcterms:created xsi:type="dcterms:W3CDTF">2025-09-28T16:41:21Z</dcterms:created>
  <dcterms:modified xsi:type="dcterms:W3CDTF">2025-09-29T21:29:17Z</dcterms:modified>
</cp:coreProperties>
</file>