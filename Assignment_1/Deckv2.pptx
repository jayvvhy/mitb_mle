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9" r:id="rId4"/>
    <p:sldId id="271" r:id="rId5"/>
    <p:sldId id="268" r:id="rId6"/>
    <p:sldId id="267" r:id="rId7"/>
    <p:sldId id="262" r:id="rId8"/>
    <p:sldId id="272" r:id="rId9"/>
    <p:sldId id="266" r:id="rId10"/>
    <p:sldId id="265" r:id="rId11"/>
    <p:sldId id="26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C0C0C0"/>
    <a:srgbClr val="C36D00"/>
    <a:srgbClr val="FFFF99"/>
    <a:srgbClr val="CD7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0" autoAdjust="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45E6-A940-4DA6-9296-A15B5FB65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90139-012E-B699-2D1F-AA5F3E593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A0BE5-6CA1-9E12-186F-1655F789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8A5A-6E03-5310-997C-D27320E9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637E-2FF6-7996-C382-CD1959C6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3311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6DCD-FB40-C56E-2178-4C2B1DF5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16C5-5F72-F7A1-C5E8-3D95C90F6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F77A-EFB2-979A-9EEA-D9D6E166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D46E8-8ADA-816C-9DF6-EC01C1CB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D733-0225-E824-CB7F-3664F214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56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3642-0446-A4D7-990D-455F2EDD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353AB-771F-AA4D-8150-D7791C48A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D9E2-D445-9889-F09A-5149BA77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0A65-8B57-879C-C1C7-52658ED4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034CA-2E05-2734-F9A4-F19653DD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035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8F9F-6C5D-1252-5035-4B0CB430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A090B-1422-ABAE-E598-C16F1EF64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8E6C2-9860-6A91-45E8-9CA2378AB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A9B09-01C1-2109-4462-DDE70830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7928A-F7C8-32B2-C6B1-98BBCD4B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BE52A-DD48-DE7F-A020-5DF6E9A9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494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B64E-D140-DFDD-8EB9-516C484E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11DFA-22C3-06AE-CF42-D329FAD9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65A11-4A0B-A99D-BBF8-3EB398744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1C3AA-D671-00CC-F6EF-04E59EAB3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36D5D-3E9D-7669-0774-CC5CC524E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3AA179-978F-3839-0815-7F381EF7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53D47-E0C9-2168-8BB4-12E61EA1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66829-3995-5FC7-2C01-430A6A51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984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AAE9-1790-292D-F111-E5318CF8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ACF37-2177-2C99-B507-E8FBD603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9CBD-5E9D-0AD2-BE8F-592B8BD3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DA162-2054-D66D-2218-F7709B8B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013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88B14-2FB8-9273-9815-515E8EAD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3238B-9452-F5C3-409A-FBD344FD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709FF-B957-1224-8655-6AB4780E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207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7DC8-5171-48CC-E3BE-1BEB910E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AEB6-B378-387B-D4C8-E33C62F0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DD5EE-FE09-B1C2-D6A9-795E33F7C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11781-D75F-B97D-9768-C4902443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5F3C0-A1E2-1D7F-96D0-6C9E0638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7F4E0-313B-D6E7-75E2-42DD8D91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204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C97DF-A31A-C528-09FA-B680FB1D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5BF3F4-413A-47CF-0772-A1600CAA0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9BFD5-4D7D-B28C-84F3-AC46255BB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7E3BE-73AA-C0AE-AE67-28C64604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0E1F9-1F18-6D56-A2F2-1BC3CAD06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31FDA-22BE-BB6D-41B1-A254AC6B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313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FDC2-2EC1-D6F3-FBEC-6A17F2B1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A5AA7-437D-EB41-1882-94F0125D7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6DBF2-27B7-789F-3386-3C2D1C07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6D758-DD57-B4C0-7578-AB5F8ABDC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60FC-D5CA-96C5-7C5C-C8C4D692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058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D8FDB-CDE4-6D1B-F9F7-66DAD6755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7DB9D-95F0-2F8B-A171-823038F25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F69A8-C80B-9933-B197-EF4BF229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599AE-2818-7065-AB5B-3738EF2A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58BB-BC46-C459-6FE5-2A8192A3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169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7A3A7-81D4-8FC6-337F-250EDBBF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5F265-EFC3-7E3D-D624-C2CEA4257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A788D-F230-805D-1A8C-7BA5F6E4A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BECDA-24E5-41CB-B5B0-0E702960A0C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8F24F-A486-C7D8-2F2D-5D2804775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7E019-F175-E507-55AD-930E4EEF7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6822A-BA74-4E34-AFA3-F9176E7DF7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905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ine drawing of a robot&#10;&#10;AI-generated content may be incorrect.">
            <a:extLst>
              <a:ext uri="{FF2B5EF4-FFF2-40B4-BE49-F238E27FC236}">
                <a16:creationId xmlns:a16="http://schemas.microsoft.com/office/drawing/2014/main" id="{8C5F0DE2-DD70-97EB-6C65-7B0A9E266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Google Shape;678;p37">
            <a:extLst>
              <a:ext uri="{FF2B5EF4-FFF2-40B4-BE49-F238E27FC236}">
                <a16:creationId xmlns:a16="http://schemas.microsoft.com/office/drawing/2014/main" id="{7230A714-E708-F26C-547C-D3B72D36C9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3290" y="1633234"/>
            <a:ext cx="4103400" cy="17957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600" dirty="0">
                <a:solidFill>
                  <a:schemeClr val="bg1"/>
                </a:solidFill>
              </a:rPr>
              <a:t>Data Processing Pipelines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7" name="Google Shape;679;p37">
            <a:extLst>
              <a:ext uri="{FF2B5EF4-FFF2-40B4-BE49-F238E27FC236}">
                <a16:creationId xmlns:a16="http://schemas.microsoft.com/office/drawing/2014/main" id="{5EC5A8A1-1B59-07F9-C40D-338AD18637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3290" y="3941861"/>
            <a:ext cx="5370425" cy="1067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>
                <a:solidFill>
                  <a:schemeClr val="bg1"/>
                </a:solidFill>
              </a:rPr>
              <a:t>CS611 – Machine Learning Engineering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>
                <a:solidFill>
                  <a:schemeClr val="bg1"/>
                </a:solidFill>
              </a:rPr>
              <a:t>Assignment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>
                <a:solidFill>
                  <a:schemeClr val="bg1"/>
                </a:solidFill>
              </a:rPr>
              <a:t>Yue Jun Yuan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025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7E70-70F3-15EB-45DE-5A722F94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11537;p106">
            <a:extLst>
              <a:ext uri="{FF2B5EF4-FFF2-40B4-BE49-F238E27FC236}">
                <a16:creationId xmlns:a16="http://schemas.microsoft.com/office/drawing/2014/main" id="{F6EFE346-A097-DDD4-6237-0D4F4829F78D}"/>
              </a:ext>
            </a:extLst>
          </p:cNvPr>
          <p:cNvGrpSpPr/>
          <p:nvPr/>
        </p:nvGrpSpPr>
        <p:grpSpPr>
          <a:xfrm>
            <a:off x="2972035" y="1432160"/>
            <a:ext cx="1296933" cy="1371337"/>
            <a:chOff x="-3771675" y="3971775"/>
            <a:chExt cx="291300" cy="292025"/>
          </a:xfrm>
          <a:solidFill>
            <a:srgbClr val="CD7F32"/>
          </a:solidFill>
        </p:grpSpPr>
        <p:sp>
          <p:nvSpPr>
            <p:cNvPr id="81" name="Google Shape;11538;p106">
              <a:extLst>
                <a:ext uri="{FF2B5EF4-FFF2-40B4-BE49-F238E27FC236}">
                  <a16:creationId xmlns:a16="http://schemas.microsoft.com/office/drawing/2014/main" id="{F670EBC9-2CAD-1C33-B82B-C0DF01C193EC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1539;p106">
              <a:extLst>
                <a:ext uri="{FF2B5EF4-FFF2-40B4-BE49-F238E27FC236}">
                  <a16:creationId xmlns:a16="http://schemas.microsoft.com/office/drawing/2014/main" id="{F455B33F-BD56-A92A-9260-3464815B43DE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11540;p106">
              <a:extLst>
                <a:ext uri="{FF2B5EF4-FFF2-40B4-BE49-F238E27FC236}">
                  <a16:creationId xmlns:a16="http://schemas.microsoft.com/office/drawing/2014/main" id="{3B56DB60-F80F-4177-1CAE-82638C5C1B4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1541;p106">
              <a:extLst>
                <a:ext uri="{FF2B5EF4-FFF2-40B4-BE49-F238E27FC236}">
                  <a16:creationId xmlns:a16="http://schemas.microsoft.com/office/drawing/2014/main" id="{52D33479-2BD4-B7D9-B73B-C687C532C042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1542;p106">
              <a:extLst>
                <a:ext uri="{FF2B5EF4-FFF2-40B4-BE49-F238E27FC236}">
                  <a16:creationId xmlns:a16="http://schemas.microsoft.com/office/drawing/2014/main" id="{726CD966-1A6B-0B1E-F847-5EC7C396C275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11537;p106">
            <a:extLst>
              <a:ext uri="{FF2B5EF4-FFF2-40B4-BE49-F238E27FC236}">
                <a16:creationId xmlns:a16="http://schemas.microsoft.com/office/drawing/2014/main" id="{14C5F4A6-BCDB-3D13-3B0C-420D1BB7F460}"/>
              </a:ext>
            </a:extLst>
          </p:cNvPr>
          <p:cNvGrpSpPr/>
          <p:nvPr/>
        </p:nvGrpSpPr>
        <p:grpSpPr>
          <a:xfrm>
            <a:off x="7563600" y="1417884"/>
            <a:ext cx="1296933" cy="1371337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76" name="Google Shape;11538;p106">
              <a:extLst>
                <a:ext uri="{FF2B5EF4-FFF2-40B4-BE49-F238E27FC236}">
                  <a16:creationId xmlns:a16="http://schemas.microsoft.com/office/drawing/2014/main" id="{0A1B71F1-FEF6-64BF-6550-AEAB98E642AF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539;p106">
              <a:extLst>
                <a:ext uri="{FF2B5EF4-FFF2-40B4-BE49-F238E27FC236}">
                  <a16:creationId xmlns:a16="http://schemas.microsoft.com/office/drawing/2014/main" id="{0FFA9F55-2D89-094C-7AD0-D8C4D62A773E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540;p106">
              <a:extLst>
                <a:ext uri="{FF2B5EF4-FFF2-40B4-BE49-F238E27FC236}">
                  <a16:creationId xmlns:a16="http://schemas.microsoft.com/office/drawing/2014/main" id="{66DD3C3C-A396-5C79-67E0-8AC62D417AC3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541;p106">
              <a:extLst>
                <a:ext uri="{FF2B5EF4-FFF2-40B4-BE49-F238E27FC236}">
                  <a16:creationId xmlns:a16="http://schemas.microsoft.com/office/drawing/2014/main" id="{DF16E5FF-3069-B09A-3D77-C05281C35D8F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1542;p106">
              <a:extLst>
                <a:ext uri="{FF2B5EF4-FFF2-40B4-BE49-F238E27FC236}">
                  <a16:creationId xmlns:a16="http://schemas.microsoft.com/office/drawing/2014/main" id="{0DEC365E-96C5-7793-EFC9-CF1ABDB4F960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1537;p106">
            <a:extLst>
              <a:ext uri="{FF2B5EF4-FFF2-40B4-BE49-F238E27FC236}">
                <a16:creationId xmlns:a16="http://schemas.microsoft.com/office/drawing/2014/main" id="{D90B3EC8-F2D7-DCB3-B5E4-49B846A4BC36}"/>
              </a:ext>
            </a:extLst>
          </p:cNvPr>
          <p:cNvGrpSpPr/>
          <p:nvPr/>
        </p:nvGrpSpPr>
        <p:grpSpPr>
          <a:xfrm>
            <a:off x="5284938" y="1426452"/>
            <a:ext cx="1296933" cy="1371337"/>
            <a:chOff x="-3771675" y="3971775"/>
            <a:chExt cx="291300" cy="292025"/>
          </a:xfrm>
          <a:solidFill>
            <a:srgbClr val="C0C0C0"/>
          </a:solidFill>
        </p:grpSpPr>
        <p:sp>
          <p:nvSpPr>
            <p:cNvPr id="71" name="Google Shape;11538;p106">
              <a:extLst>
                <a:ext uri="{FF2B5EF4-FFF2-40B4-BE49-F238E27FC236}">
                  <a16:creationId xmlns:a16="http://schemas.microsoft.com/office/drawing/2014/main" id="{0A536E2B-F891-2C6A-F872-735234A66ABB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539;p106">
              <a:extLst>
                <a:ext uri="{FF2B5EF4-FFF2-40B4-BE49-F238E27FC236}">
                  <a16:creationId xmlns:a16="http://schemas.microsoft.com/office/drawing/2014/main" id="{AB83E2B7-C8CC-22F6-6A7B-130E8293EF3E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540;p106">
              <a:extLst>
                <a:ext uri="{FF2B5EF4-FFF2-40B4-BE49-F238E27FC236}">
                  <a16:creationId xmlns:a16="http://schemas.microsoft.com/office/drawing/2014/main" id="{3CFD768F-487D-AB0A-5779-57F13FA06CDF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541;p106">
              <a:extLst>
                <a:ext uri="{FF2B5EF4-FFF2-40B4-BE49-F238E27FC236}">
                  <a16:creationId xmlns:a16="http://schemas.microsoft.com/office/drawing/2014/main" id="{FBD92248-8D5F-50AB-9D46-D9D02DBA6142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542;p106">
              <a:extLst>
                <a:ext uri="{FF2B5EF4-FFF2-40B4-BE49-F238E27FC236}">
                  <a16:creationId xmlns:a16="http://schemas.microsoft.com/office/drawing/2014/main" id="{BEA924CC-209F-90C4-B5CE-D7FBC8D8DACE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4727;p94">
            <a:extLst>
              <a:ext uri="{FF2B5EF4-FFF2-40B4-BE49-F238E27FC236}">
                <a16:creationId xmlns:a16="http://schemas.microsoft.com/office/drawing/2014/main" id="{8104016A-EEFE-F1DD-FA47-74D27F48F744}"/>
              </a:ext>
            </a:extLst>
          </p:cNvPr>
          <p:cNvSpPr/>
          <p:nvPr/>
        </p:nvSpPr>
        <p:spPr>
          <a:xfrm>
            <a:off x="2259104" y="2022158"/>
            <a:ext cx="533357" cy="26432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" name="Google Shape;9396;p102">
            <a:extLst>
              <a:ext uri="{FF2B5EF4-FFF2-40B4-BE49-F238E27FC236}">
                <a16:creationId xmlns:a16="http://schemas.microsoft.com/office/drawing/2014/main" id="{D0756229-1AD9-553C-4E8B-9A56D2F0282A}"/>
              </a:ext>
            </a:extLst>
          </p:cNvPr>
          <p:cNvGrpSpPr/>
          <p:nvPr/>
        </p:nvGrpSpPr>
        <p:grpSpPr>
          <a:xfrm>
            <a:off x="1306284" y="1753726"/>
            <a:ext cx="686718" cy="719629"/>
            <a:chOff x="-60988625" y="3740800"/>
            <a:chExt cx="316650" cy="310350"/>
          </a:xfrm>
          <a:solidFill>
            <a:schemeClr val="accent6"/>
          </a:solidFill>
        </p:grpSpPr>
        <p:sp>
          <p:nvSpPr>
            <p:cNvPr id="68" name="Google Shape;9397;p102">
              <a:extLst>
                <a:ext uri="{FF2B5EF4-FFF2-40B4-BE49-F238E27FC236}">
                  <a16:creationId xmlns:a16="http://schemas.microsoft.com/office/drawing/2014/main" id="{54951FAA-0A28-91E5-264A-0D5F6A9A086D}"/>
                </a:ext>
              </a:extLst>
            </p:cNvPr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398;p102">
              <a:extLst>
                <a:ext uri="{FF2B5EF4-FFF2-40B4-BE49-F238E27FC236}">
                  <a16:creationId xmlns:a16="http://schemas.microsoft.com/office/drawing/2014/main" id="{207E3E7C-A93B-5DE8-9F88-7A1D6BF45D93}"/>
                </a:ext>
              </a:extLst>
            </p:cNvPr>
            <p:cNvSpPr/>
            <p:nvPr/>
          </p:nvSpPr>
          <p:spPr>
            <a:xfrm>
              <a:off x="-60742100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399;p102">
              <a:extLst>
                <a:ext uri="{FF2B5EF4-FFF2-40B4-BE49-F238E27FC236}">
                  <a16:creationId xmlns:a16="http://schemas.microsoft.com/office/drawing/2014/main" id="{9AC17AF9-3637-2892-CCFD-044FFF760D8F}"/>
                </a:ext>
              </a:extLst>
            </p:cNvPr>
            <p:cNvSpPr/>
            <p:nvPr/>
          </p:nvSpPr>
          <p:spPr>
            <a:xfrm>
              <a:off x="-60740525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4727;p94">
            <a:extLst>
              <a:ext uri="{FF2B5EF4-FFF2-40B4-BE49-F238E27FC236}">
                <a16:creationId xmlns:a16="http://schemas.microsoft.com/office/drawing/2014/main" id="{CC194668-D8F9-D490-AC7E-5EF495B77BB4}"/>
              </a:ext>
            </a:extLst>
          </p:cNvPr>
          <p:cNvSpPr/>
          <p:nvPr/>
        </p:nvSpPr>
        <p:spPr>
          <a:xfrm>
            <a:off x="4473270" y="2019432"/>
            <a:ext cx="533357" cy="26432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4727;p94">
            <a:extLst>
              <a:ext uri="{FF2B5EF4-FFF2-40B4-BE49-F238E27FC236}">
                <a16:creationId xmlns:a16="http://schemas.microsoft.com/office/drawing/2014/main" id="{AFECB7B1-1F63-5827-4F67-349E72368120}"/>
              </a:ext>
            </a:extLst>
          </p:cNvPr>
          <p:cNvSpPr/>
          <p:nvPr/>
        </p:nvSpPr>
        <p:spPr>
          <a:xfrm>
            <a:off x="6747956" y="2018357"/>
            <a:ext cx="533357" cy="264328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2961;p63">
            <a:extLst>
              <a:ext uri="{FF2B5EF4-FFF2-40B4-BE49-F238E27FC236}">
                <a16:creationId xmlns:a16="http://schemas.microsoft.com/office/drawing/2014/main" id="{6B1D767F-E124-B547-7C8A-A128995DA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Proposed Pipeline – Medallion Architecture</a:t>
            </a:r>
            <a:endParaRPr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031151-19E3-07D7-8ECF-1366D08EF0C8}"/>
              </a:ext>
            </a:extLst>
          </p:cNvPr>
          <p:cNvSpPr txBox="1"/>
          <p:nvPr/>
        </p:nvSpPr>
        <p:spPr>
          <a:xfrm>
            <a:off x="939737" y="1168896"/>
            <a:ext cx="1582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Data: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Ingested as .csv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C62BF6-6762-71A7-B7F7-EB449ACDE198}"/>
              </a:ext>
            </a:extLst>
          </p:cNvPr>
          <p:cNvSpPr txBox="1"/>
          <p:nvPr/>
        </p:nvSpPr>
        <p:spPr>
          <a:xfrm>
            <a:off x="9499729" y="831061"/>
            <a:ext cx="254091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u="sng" dirty="0">
                <a:solidFill>
                  <a:srgbClr val="C36D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Bronze</a:t>
            </a:r>
            <a:r>
              <a:rPr lang="en-SG" dirty="0">
                <a:solidFill>
                  <a:srgbClr val="C36D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Partitioned by month and saved as parquet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data dump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processing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5C7EB5-CACC-6224-6FF5-AD0B459C5319}"/>
              </a:ext>
            </a:extLst>
          </p:cNvPr>
          <p:cNvSpPr txBox="1"/>
          <p:nvPr/>
        </p:nvSpPr>
        <p:spPr>
          <a:xfrm>
            <a:off x="9499729" y="2082629"/>
            <a:ext cx="25335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u="sng" dirty="0">
                <a:solidFill>
                  <a:srgbClr val="C0C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Silver: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Partitioned by month and saved as parquet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Type enforcement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Quality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Synthesize additional columns where relevant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36432-D891-6B61-93C0-0F6C961BF53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2899061" y="3649161"/>
            <a:ext cx="987642" cy="10936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DF78B-F424-1123-FC5E-03ADC32B4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960" y="3508463"/>
            <a:ext cx="1087697" cy="1318269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99BA0B78-AD05-4730-A03C-253DC2458D74}"/>
              </a:ext>
            </a:extLst>
          </p:cNvPr>
          <p:cNvSpPr/>
          <p:nvPr/>
        </p:nvSpPr>
        <p:spPr>
          <a:xfrm rot="5400000">
            <a:off x="4741033" y="-799686"/>
            <a:ext cx="572700" cy="7666300"/>
          </a:xfrm>
          <a:prstGeom prst="rightBrace">
            <a:avLst>
              <a:gd name="adj1" fmla="val 8333"/>
              <a:gd name="adj2" fmla="val 853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57451-C147-6B20-BF4D-41C33897BC6E}"/>
              </a:ext>
            </a:extLst>
          </p:cNvPr>
          <p:cNvSpPr/>
          <p:nvPr/>
        </p:nvSpPr>
        <p:spPr>
          <a:xfrm>
            <a:off x="552659" y="960949"/>
            <a:ext cx="8611438" cy="409336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30" name="Picture 6" descr="Docker Icon in SVG, PNG formats">
            <a:extLst>
              <a:ext uri="{FF2B5EF4-FFF2-40B4-BE49-F238E27FC236}">
                <a16:creationId xmlns:a16="http://schemas.microsoft.com/office/drawing/2014/main" id="{C10E8971-4BB0-F65F-EC8D-274650278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447" y="3992008"/>
            <a:ext cx="10096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9C97BB-0808-E26D-FC35-69723F05DCE2}"/>
              </a:ext>
            </a:extLst>
          </p:cNvPr>
          <p:cNvSpPr txBox="1"/>
          <p:nvPr/>
        </p:nvSpPr>
        <p:spPr>
          <a:xfrm>
            <a:off x="515084" y="5203721"/>
            <a:ext cx="824620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python script orchestrates entire preprocessing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Logic transforming from each stage captured in individual python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Configuration and parameter details managed on separate YAML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 fully containerized to ensure reproducibility and facilitate production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Logs are created with each run to detail results of data validation and dataset shape details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3F8520-5631-44FD-097E-C5DF5C807B14}"/>
              </a:ext>
            </a:extLst>
          </p:cNvPr>
          <p:cNvSpPr txBox="1"/>
          <p:nvPr/>
        </p:nvSpPr>
        <p:spPr>
          <a:xfrm>
            <a:off x="9543374" y="3765084"/>
            <a:ext cx="25335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u="sng" dirty="0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 feature and label store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store subdivided into train / val / test / OOT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Identifiers retained (to be dropped during ML pipeline)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Missing value handling and encoding rules derived from train and applied to other splits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F4E8EB-2C00-797F-5C02-A77E42F2A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959" y="3849989"/>
            <a:ext cx="803391" cy="9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4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382C-F1ED-6C16-BBE5-A6AE5B9E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61;p63">
            <a:extLst>
              <a:ext uri="{FF2B5EF4-FFF2-40B4-BE49-F238E27FC236}">
                <a16:creationId xmlns:a16="http://schemas.microsoft.com/office/drawing/2014/main" id="{6492F833-2BDC-A843-2740-5094D620F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5570" y="307865"/>
            <a:ext cx="53692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Overall Pipelining Considerations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7BA1F-E308-7272-53C6-F5340DE6BDB0}"/>
              </a:ext>
            </a:extLst>
          </p:cNvPr>
          <p:cNvSpPr txBox="1"/>
          <p:nvPr/>
        </p:nvSpPr>
        <p:spPr>
          <a:xfrm>
            <a:off x="497401" y="1226299"/>
            <a:ext cx="111971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SG" sz="20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Storing Configuration / Parameters in YAML</a:t>
            </a:r>
            <a:endParaRPr lang="en-SG" sz="1600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Separation of concerns – separation of core pipeline logic from config and parameters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of parameters follows different (simpler) approval process as compared to code change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Cleaner and easier to read code logic</a:t>
            </a:r>
          </a:p>
          <a:p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 – different YAML files can be used for development / production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switching of file paths, or API end points without modifying code</a:t>
            </a:r>
          </a:p>
          <a:p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Version control – changes to parameters can be archived and versioned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Avoids multiple versions of scripts or commented code</a:t>
            </a:r>
          </a:p>
          <a:p>
            <a:pPr lvl="1"/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friendly – allows non-programmers to easily understand and edit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users or new project members can easily make simple changes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Reduced hardcoding which results in more maintainable and less error-prone codes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F1A182-9C2F-A0AE-E4AC-16F8B0D7F94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843433" y="1129046"/>
            <a:ext cx="530099" cy="587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C1E13E-8C33-26A6-05CC-FB70FE602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02" y="185102"/>
            <a:ext cx="757460" cy="755338"/>
          </a:xfrm>
          <a:prstGeom prst="rect">
            <a:avLst/>
          </a:prstGeom>
        </p:spPr>
      </p:pic>
      <p:pic>
        <p:nvPicPr>
          <p:cNvPr id="10242" name="Picture 2" descr="LOG File Icon in SVG, PNG formats">
            <a:extLst>
              <a:ext uri="{FF2B5EF4-FFF2-40B4-BE49-F238E27FC236}">
                <a16:creationId xmlns:a16="http://schemas.microsoft.com/office/drawing/2014/main" id="{12595429-948F-39C4-9D70-BD7555E0C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01" y="5112084"/>
            <a:ext cx="609792" cy="60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3CD4E4-2BBA-3ABB-5D1D-5B5F3EBE8A66}"/>
              </a:ext>
            </a:extLst>
          </p:cNvPr>
          <p:cNvSpPr txBox="1"/>
          <p:nvPr/>
        </p:nvSpPr>
        <p:spPr>
          <a:xfrm>
            <a:off x="583699" y="5226784"/>
            <a:ext cx="111971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SG" sz="20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 logging system</a:t>
            </a:r>
            <a:endParaRPr lang="en-SG" sz="1600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Pipeline logging captures script execution, completions and errors in dedicated log files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 time-stamped log file created with each run of pipeline, enabling traceability and easier debugging</a:t>
            </a:r>
          </a:p>
          <a:p>
            <a:pPr lvl="1"/>
            <a:endParaRPr lang="en-SG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2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61;p63">
            <a:extLst>
              <a:ext uri="{FF2B5EF4-FFF2-40B4-BE49-F238E27FC236}">
                <a16:creationId xmlns:a16="http://schemas.microsoft.com/office/drawing/2014/main" id="{1AF3788A-852B-013C-32C1-D70896318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4449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Silver Tables Processing</a:t>
            </a:r>
            <a:endParaRPr dirty="0"/>
          </a:p>
        </p:txBody>
      </p:sp>
      <p:grpSp>
        <p:nvGrpSpPr>
          <p:cNvPr id="5" name="Google Shape;11537;p106">
            <a:extLst>
              <a:ext uri="{FF2B5EF4-FFF2-40B4-BE49-F238E27FC236}">
                <a16:creationId xmlns:a16="http://schemas.microsoft.com/office/drawing/2014/main" id="{BFD7740A-79EB-1C75-4BD2-15A4B2F28BB5}"/>
              </a:ext>
            </a:extLst>
          </p:cNvPr>
          <p:cNvGrpSpPr/>
          <p:nvPr/>
        </p:nvGrpSpPr>
        <p:grpSpPr>
          <a:xfrm>
            <a:off x="923954" y="217844"/>
            <a:ext cx="633541" cy="685669"/>
            <a:chOff x="-3771675" y="3971775"/>
            <a:chExt cx="291300" cy="292025"/>
          </a:xfrm>
          <a:solidFill>
            <a:srgbClr val="C0C0C0"/>
          </a:solidFill>
        </p:grpSpPr>
        <p:sp>
          <p:nvSpPr>
            <p:cNvPr id="6" name="Google Shape;11538;p106">
              <a:extLst>
                <a:ext uri="{FF2B5EF4-FFF2-40B4-BE49-F238E27FC236}">
                  <a16:creationId xmlns:a16="http://schemas.microsoft.com/office/drawing/2014/main" id="{704E16B1-163E-A87F-42EC-107754C97487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539;p106">
              <a:extLst>
                <a:ext uri="{FF2B5EF4-FFF2-40B4-BE49-F238E27FC236}">
                  <a16:creationId xmlns:a16="http://schemas.microsoft.com/office/drawing/2014/main" id="{92634ECB-3522-FBBC-D636-7C0A67FA06C5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540;p106">
              <a:extLst>
                <a:ext uri="{FF2B5EF4-FFF2-40B4-BE49-F238E27FC236}">
                  <a16:creationId xmlns:a16="http://schemas.microsoft.com/office/drawing/2014/main" id="{25E99ADF-9AB7-F0E7-5FC1-5AF57FC63B7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541;p106">
              <a:extLst>
                <a:ext uri="{FF2B5EF4-FFF2-40B4-BE49-F238E27FC236}">
                  <a16:creationId xmlns:a16="http://schemas.microsoft.com/office/drawing/2014/main" id="{7AF9199C-DEF1-E8A9-1DED-045789CABB30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542;p106">
              <a:extLst>
                <a:ext uri="{FF2B5EF4-FFF2-40B4-BE49-F238E27FC236}">
                  <a16:creationId xmlns:a16="http://schemas.microsoft.com/office/drawing/2014/main" id="{E72C0781-B1C8-CF5A-3F71-C15FD638DFF8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AED032B-9DB3-9015-E61A-D1BBAF76E2EF}"/>
              </a:ext>
            </a:extLst>
          </p:cNvPr>
          <p:cNvSpPr txBox="1"/>
          <p:nvPr/>
        </p:nvSpPr>
        <p:spPr>
          <a:xfrm>
            <a:off x="623017" y="999837"/>
            <a:ext cx="942268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Silver Tables Processing Steps:</a:t>
            </a:r>
            <a:endParaRPr lang="en-SG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Handle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Quality issues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(detailed missing and invalid handling available in following slides – treatment to be agreed with business)</a:t>
            </a:r>
          </a:p>
          <a:p>
            <a:pPr marL="342900" indent="-342900">
              <a:buFont typeface="+mj-lt"/>
              <a:buAutoNum type="arabicPeriod"/>
            </a:pPr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or transform additional columns to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 data usability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integer based “Credit_History_Age_Months” by transforming text description in “Credit_History_Age”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“Type_of_Loan_list” of Array(String) type by parsing “Type_of_Loan”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Full list available in following slides</a:t>
            </a:r>
          </a:p>
          <a:p>
            <a:pPr marL="342900" indent="-342900">
              <a:buFont typeface="+mj-lt"/>
              <a:buAutoNum type="arabicPeriod"/>
            </a:pPr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type enforcement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full list of variables with expected data types defined in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silver_config.yaml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enforced during processing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Parquet format preserves data type through defined schema </a:t>
            </a:r>
          </a:p>
          <a:p>
            <a:pPr marL="342900" indent="-342900">
              <a:buFont typeface="+mj-lt"/>
              <a:buAutoNum type="arabicPeriod"/>
            </a:pPr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20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Objective:</a:t>
            </a:r>
            <a:endParaRPr lang="en-SG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Silver tables (separate for each dataset) is processed only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minimally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allow for general view and analytics consumption. Use case specific transformation are done in gold layer.</a:t>
            </a:r>
          </a:p>
        </p:txBody>
      </p:sp>
    </p:spTree>
    <p:extLst>
      <p:ext uri="{BB962C8B-B14F-4D97-AF65-F5344CB8AC3E}">
        <p14:creationId xmlns:p14="http://schemas.microsoft.com/office/powerpoint/2010/main" val="162027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11D9-FF32-27FC-4CFC-06988784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2090C0-9362-AA0B-F1D9-746193FAF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07765"/>
              </p:ext>
            </p:extLst>
          </p:nvPr>
        </p:nvGraphicFramePr>
        <p:xfrm>
          <a:off x="708708" y="1055077"/>
          <a:ext cx="10738223" cy="5313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94">
                  <a:extLst>
                    <a:ext uri="{9D8B030D-6E8A-4147-A177-3AD203B41FA5}">
                      <a16:colId xmlns:a16="http://schemas.microsoft.com/office/drawing/2014/main" val="4183567641"/>
                    </a:ext>
                  </a:extLst>
                </a:gridCol>
                <a:gridCol w="5338077">
                  <a:extLst>
                    <a:ext uri="{9D8B030D-6E8A-4147-A177-3AD203B41FA5}">
                      <a16:colId xmlns:a16="http://schemas.microsoft.com/office/drawing/2014/main" val="4188362888"/>
                    </a:ext>
                  </a:extLst>
                </a:gridCol>
                <a:gridCol w="2603652">
                  <a:extLst>
                    <a:ext uri="{9D8B030D-6E8A-4147-A177-3AD203B41FA5}">
                      <a16:colId xmlns:a16="http://schemas.microsoft.com/office/drawing/2014/main" val="1637928354"/>
                    </a:ext>
                  </a:extLst>
                </a:gridCol>
              </a:tblGrid>
              <a:tr h="604709">
                <a:tc>
                  <a:txBody>
                    <a:bodyPr/>
                    <a:lstStyle/>
                    <a:p>
                      <a:r>
                        <a:rPr lang="en-SG" sz="32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Data Quality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12818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features_attributes.csv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“SSN” contain values “#F%$D@*&amp;8” not following convention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accent1"/>
                          </a:solidFill>
                        </a:rPr>
                        <a:t>np.nan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353542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features_attributes.csv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“Occupation” column contain invalid “_______” values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accent1"/>
                          </a:solidFill>
                        </a:rPr>
                        <a:t>np.nan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30727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features_attributes.csv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“Age” containing numeric values suffixed with ‘_’</a:t>
                      </a:r>
                    </a:p>
                    <a:p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“Age” column contains large invalid values</a:t>
                      </a:r>
                    </a:p>
                    <a:p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“Age” column containing negative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Remove ‘_’ suffix</a:t>
                      </a:r>
                      <a:endParaRPr lang="en-SG" sz="1400" dirty="0">
                        <a:solidFill>
                          <a:schemeClr val="accent1"/>
                        </a:solidFill>
                      </a:endParaRPr>
                    </a:p>
                    <a:p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Age&lt;0 or Age&gt;120 replace with </a:t>
                      </a:r>
                      <a:r>
                        <a:rPr lang="en-SG" sz="1400" dirty="0" err="1">
                          <a:solidFill>
                            <a:schemeClr val="accent1"/>
                          </a:solidFill>
                        </a:rPr>
                        <a:t>np.nan</a:t>
                      </a:r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; set “</a:t>
                      </a:r>
                      <a:r>
                        <a:rPr lang="en-SG" sz="1400" dirty="0" err="1">
                          <a:solidFill>
                            <a:schemeClr val="accent1"/>
                          </a:solidFill>
                        </a:rPr>
                        <a:t>Age_valid</a:t>
                      </a:r>
                      <a:r>
                        <a:rPr lang="en-SG" sz="1400" dirty="0">
                          <a:solidFill>
                            <a:schemeClr val="accent1"/>
                          </a:solidFill>
                        </a:rPr>
                        <a:t>’ binary flag to 0 else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398980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“Annual_Income” containing numeric values suffixed with ‘_’</a:t>
                      </a: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“Annual_Income” 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contain inconsistent rounding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‘_’ suffix</a:t>
                      </a: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Standardize rounding to 2d.p.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96523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Num_Bank_Accounts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invalid negative values</a:t>
                      </a:r>
                    </a:p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Num_Bank_Accounts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large invalid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np.nan</a:t>
                      </a:r>
                      <a:endPara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Cap values at 11*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373210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Num_Credit_Card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invalid large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Cap values at 11*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41946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Interest_Rate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invalid large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Cap values at 34*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73793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Type_of_Loan</a:t>
                      </a:r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contains multiple categorical values, including “Not Specified”, and missing values 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Create “</a:t>
                      </a:r>
                      <a:r>
                        <a:rPr lang="en-US" sz="1400" b="1" dirty="0" err="1">
                          <a:solidFill>
                            <a:schemeClr val="accent3"/>
                          </a:solidFill>
                        </a:rPr>
                        <a:t>Type_of_Loan_list</a:t>
                      </a: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” as array of string representation</a:t>
                      </a:r>
                      <a:endParaRPr lang="en-SG" sz="1400" b="1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655709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Num_of_Loan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numeric values suffixed with ‘_’</a:t>
                      </a: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Num_of_Loan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negative values</a:t>
                      </a: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Num_of_Loan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large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1" dirty="0">
                          <a:solidFill>
                            <a:schemeClr val="accent3"/>
                          </a:solidFill>
                        </a:rPr>
                        <a:t>Derive values for “</a:t>
                      </a:r>
                      <a:r>
                        <a:rPr lang="en-SG" sz="1400" b="1" dirty="0" err="1">
                          <a:solidFill>
                            <a:schemeClr val="accent3"/>
                          </a:solidFill>
                        </a:rPr>
                        <a:t>Num_of_Loan</a:t>
                      </a:r>
                      <a:r>
                        <a:rPr lang="en-SG" sz="1400" b="1" dirty="0">
                          <a:solidFill>
                            <a:schemeClr val="accent3"/>
                          </a:solidFill>
                        </a:rPr>
                        <a:t>” using “</a:t>
                      </a:r>
                      <a:r>
                        <a:rPr lang="en-SG" sz="1400" b="1" dirty="0" err="1">
                          <a:solidFill>
                            <a:schemeClr val="accent3"/>
                          </a:solidFill>
                        </a:rPr>
                        <a:t>Type_of_Loan_list</a:t>
                      </a:r>
                      <a:r>
                        <a:rPr lang="en-SG" sz="1400" b="1" dirty="0">
                          <a:solidFill>
                            <a:schemeClr val="accent3"/>
                          </a:solidFill>
                        </a:rPr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9385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A295164-43D0-AEDC-4950-98413BFA95DF}"/>
              </a:ext>
            </a:extLst>
          </p:cNvPr>
          <p:cNvSpPr txBox="1"/>
          <p:nvPr/>
        </p:nvSpPr>
        <p:spPr>
          <a:xfrm>
            <a:off x="3968100" y="6520078"/>
            <a:ext cx="8223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Invalid values handling derived based on data exploration, business to confirm correct maximum values</a:t>
            </a:r>
            <a:endParaRPr lang="en-SG" sz="1400" dirty="0"/>
          </a:p>
        </p:txBody>
      </p:sp>
      <p:sp>
        <p:nvSpPr>
          <p:cNvPr id="10" name="Google Shape;2961;p63">
            <a:extLst>
              <a:ext uri="{FF2B5EF4-FFF2-40B4-BE49-F238E27FC236}">
                <a16:creationId xmlns:a16="http://schemas.microsoft.com/office/drawing/2014/main" id="{6BDA8E25-042D-FF6D-9EB4-C311217B6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4449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Silver Tables Processing – Data Quality Handling</a:t>
            </a:r>
            <a:endParaRPr dirty="0"/>
          </a:p>
        </p:txBody>
      </p:sp>
      <p:grpSp>
        <p:nvGrpSpPr>
          <p:cNvPr id="2" name="Google Shape;11537;p106">
            <a:extLst>
              <a:ext uri="{FF2B5EF4-FFF2-40B4-BE49-F238E27FC236}">
                <a16:creationId xmlns:a16="http://schemas.microsoft.com/office/drawing/2014/main" id="{E8C0BB30-C2FF-6191-E70F-D509616344BF}"/>
              </a:ext>
            </a:extLst>
          </p:cNvPr>
          <p:cNvGrpSpPr/>
          <p:nvPr/>
        </p:nvGrpSpPr>
        <p:grpSpPr>
          <a:xfrm>
            <a:off x="923954" y="217844"/>
            <a:ext cx="633541" cy="685669"/>
            <a:chOff x="-3771675" y="3971775"/>
            <a:chExt cx="291300" cy="292025"/>
          </a:xfrm>
          <a:solidFill>
            <a:srgbClr val="C0C0C0"/>
          </a:solidFill>
        </p:grpSpPr>
        <p:sp>
          <p:nvSpPr>
            <p:cNvPr id="3" name="Google Shape;11538;p106">
              <a:extLst>
                <a:ext uri="{FF2B5EF4-FFF2-40B4-BE49-F238E27FC236}">
                  <a16:creationId xmlns:a16="http://schemas.microsoft.com/office/drawing/2014/main" id="{E969774D-2294-4C48-82B7-3E64F02FA4B5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539;p106">
              <a:extLst>
                <a:ext uri="{FF2B5EF4-FFF2-40B4-BE49-F238E27FC236}">
                  <a16:creationId xmlns:a16="http://schemas.microsoft.com/office/drawing/2014/main" id="{B46DEFBF-E357-3218-412E-D5C0E756CDD6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540;p106">
              <a:extLst>
                <a:ext uri="{FF2B5EF4-FFF2-40B4-BE49-F238E27FC236}">
                  <a16:creationId xmlns:a16="http://schemas.microsoft.com/office/drawing/2014/main" id="{0FE6CE16-0981-D9AE-9C59-CB3D90BA216A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541;p106">
              <a:extLst>
                <a:ext uri="{FF2B5EF4-FFF2-40B4-BE49-F238E27FC236}">
                  <a16:creationId xmlns:a16="http://schemas.microsoft.com/office/drawing/2014/main" id="{38ADBBC8-A9AF-AA49-CF74-2E5A3A49F1CF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42;p106">
              <a:extLst>
                <a:ext uri="{FF2B5EF4-FFF2-40B4-BE49-F238E27FC236}">
                  <a16:creationId xmlns:a16="http://schemas.microsoft.com/office/drawing/2014/main" id="{1E77912A-E968-87BE-E807-F1F24894A72E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4069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A788-32D9-6F5C-0285-19B9854F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F01AAB-8D72-FB44-A75E-11F607E7F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348408"/>
              </p:ext>
            </p:extLst>
          </p:nvPr>
        </p:nvGraphicFramePr>
        <p:xfrm>
          <a:off x="708708" y="1014884"/>
          <a:ext cx="10738223" cy="522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94">
                  <a:extLst>
                    <a:ext uri="{9D8B030D-6E8A-4147-A177-3AD203B41FA5}">
                      <a16:colId xmlns:a16="http://schemas.microsoft.com/office/drawing/2014/main" val="4183567641"/>
                    </a:ext>
                  </a:extLst>
                </a:gridCol>
                <a:gridCol w="5338077">
                  <a:extLst>
                    <a:ext uri="{9D8B030D-6E8A-4147-A177-3AD203B41FA5}">
                      <a16:colId xmlns:a16="http://schemas.microsoft.com/office/drawing/2014/main" val="4188362888"/>
                    </a:ext>
                  </a:extLst>
                </a:gridCol>
                <a:gridCol w="2603652">
                  <a:extLst>
                    <a:ext uri="{9D8B030D-6E8A-4147-A177-3AD203B41FA5}">
                      <a16:colId xmlns:a16="http://schemas.microsoft.com/office/drawing/2014/main" val="1637928354"/>
                    </a:ext>
                  </a:extLst>
                </a:gridCol>
              </a:tblGrid>
              <a:tr h="656186">
                <a:tc>
                  <a:txBody>
                    <a:bodyPr/>
                    <a:lstStyle/>
                    <a:p>
                      <a:r>
                        <a:rPr lang="en-SG" sz="32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Data Quality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3200" dirty="0"/>
                        <a:t>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12818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Num_of_Delayed_Payment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numeric suffixed with ‘_’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Num_of_Delayed_Payment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large values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Num_of_Delayed_Payment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negative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‘_’ suffix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Cap values at 28*</a:t>
                      </a:r>
                    </a:p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 handling business to advice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47661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Changed_Credit_Limit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values ‘_’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Changed_Credit_Limit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inconsistent rounding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Changed_Credit_Limit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negative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np.nan</a:t>
                      </a:r>
                      <a:endParaRPr lang="en-US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Standardize rounding to 2d.p.</a:t>
                      </a:r>
                    </a:p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 handling business to advice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77657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Outstanding_Debt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numeric values suffixed with ‘_’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‘_’ suffix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230727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Credit_History_Age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in format of “X Years and Y Months”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Convert to int no. of months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096523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SG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Payment_of_Min_Amount</a:t>
                      </a:r>
                      <a:r>
                        <a:rPr lang="en-SG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contains {Yes, No, NM}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Business to advice ‘NM’ validity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373210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Amount_invested_monthly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invalid ‘__10000__’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Remove both prefix and suffix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41946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Payment_Behaviour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containing invalid ‘!@9#%8’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np.nan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073793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Monthly_Balance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‘__-333333333333333333333333333__’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np.nan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938516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Delay_from_due_date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contains negative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 handling business to advice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8481"/>
                  </a:ext>
                </a:extLst>
              </a:tr>
              <a:tr h="3694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features_financials.csv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“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Credit_Mix</a:t>
                      </a: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” contain invalid “_” values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Replace with </a:t>
                      </a:r>
                      <a:r>
                        <a:rPr lang="en-US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np.nan</a:t>
                      </a:r>
                      <a:endParaRPr lang="en-SG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4086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036D71-8BF7-A4E3-2E75-1955D3B01393}"/>
              </a:ext>
            </a:extLst>
          </p:cNvPr>
          <p:cNvSpPr txBox="1"/>
          <p:nvPr/>
        </p:nvSpPr>
        <p:spPr>
          <a:xfrm>
            <a:off x="3968100" y="6520078"/>
            <a:ext cx="8223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 Invalid values handling derived based on data exploration, business to confirm correct maximum values</a:t>
            </a:r>
            <a:endParaRPr lang="en-SG" sz="1400" dirty="0"/>
          </a:p>
        </p:txBody>
      </p:sp>
      <p:sp>
        <p:nvSpPr>
          <p:cNvPr id="2" name="Google Shape;2961;p63">
            <a:extLst>
              <a:ext uri="{FF2B5EF4-FFF2-40B4-BE49-F238E27FC236}">
                <a16:creationId xmlns:a16="http://schemas.microsoft.com/office/drawing/2014/main" id="{6B67925F-59B3-5607-A346-6E06DFFFA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4449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Silver Tables Processing – Data Quality Handling</a:t>
            </a:r>
            <a:endParaRPr dirty="0"/>
          </a:p>
        </p:txBody>
      </p:sp>
      <p:grpSp>
        <p:nvGrpSpPr>
          <p:cNvPr id="6" name="Google Shape;11537;p106">
            <a:extLst>
              <a:ext uri="{FF2B5EF4-FFF2-40B4-BE49-F238E27FC236}">
                <a16:creationId xmlns:a16="http://schemas.microsoft.com/office/drawing/2014/main" id="{0DFCAB98-6F91-0E1A-2EBA-52187F7EC982}"/>
              </a:ext>
            </a:extLst>
          </p:cNvPr>
          <p:cNvGrpSpPr/>
          <p:nvPr/>
        </p:nvGrpSpPr>
        <p:grpSpPr>
          <a:xfrm>
            <a:off x="923954" y="217844"/>
            <a:ext cx="633541" cy="685669"/>
            <a:chOff x="-3771675" y="3971775"/>
            <a:chExt cx="291300" cy="292025"/>
          </a:xfrm>
          <a:solidFill>
            <a:srgbClr val="C0C0C0"/>
          </a:solidFill>
        </p:grpSpPr>
        <p:sp>
          <p:nvSpPr>
            <p:cNvPr id="9" name="Google Shape;11538;p106">
              <a:extLst>
                <a:ext uri="{FF2B5EF4-FFF2-40B4-BE49-F238E27FC236}">
                  <a16:creationId xmlns:a16="http://schemas.microsoft.com/office/drawing/2014/main" id="{6E28DA81-08F2-48AC-3D02-FA16D65DE652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539;p106">
              <a:extLst>
                <a:ext uri="{FF2B5EF4-FFF2-40B4-BE49-F238E27FC236}">
                  <a16:creationId xmlns:a16="http://schemas.microsoft.com/office/drawing/2014/main" id="{67797AB4-D60B-013F-9D2E-66E3B8CB50F8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540;p106">
              <a:extLst>
                <a:ext uri="{FF2B5EF4-FFF2-40B4-BE49-F238E27FC236}">
                  <a16:creationId xmlns:a16="http://schemas.microsoft.com/office/drawing/2014/main" id="{707E0E13-A86F-2C92-1AB9-2396B3F8CE91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41;p106">
              <a:extLst>
                <a:ext uri="{FF2B5EF4-FFF2-40B4-BE49-F238E27FC236}">
                  <a16:creationId xmlns:a16="http://schemas.microsoft.com/office/drawing/2014/main" id="{D55A84AE-92AD-2F0C-A715-A96A1BE48F17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42;p106">
              <a:extLst>
                <a:ext uri="{FF2B5EF4-FFF2-40B4-BE49-F238E27FC236}">
                  <a16:creationId xmlns:a16="http://schemas.microsoft.com/office/drawing/2014/main" id="{861729F9-63E5-B70D-6625-9C34054E307B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9541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525F1F-7E0C-52BD-1063-24446D7C629E}"/>
              </a:ext>
            </a:extLst>
          </p:cNvPr>
          <p:cNvSpPr txBox="1"/>
          <p:nvPr/>
        </p:nvSpPr>
        <p:spPr>
          <a:xfrm>
            <a:off x="623017" y="999837"/>
            <a:ext cx="757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set of concatenated values (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Customer_ID + snapshot_date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equivalent between feature_financials and features_attributes and also equivalent with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(Customer_ID + loan_start_date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on lms_loan_daily</a:t>
            </a: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 feature store (financials / attributes) to label store (lms_loan_daily)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using above join keys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3AA8B-0363-CBEF-9001-2411BED8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448" y="999837"/>
            <a:ext cx="3086367" cy="861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96FEB9-8B82-F508-DFA3-ADCBA5984643}"/>
              </a:ext>
            </a:extLst>
          </p:cNvPr>
          <p:cNvSpPr txBox="1"/>
          <p:nvPr/>
        </p:nvSpPr>
        <p:spPr>
          <a:xfrm>
            <a:off x="686412" y="2108260"/>
            <a:ext cx="106814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Clickstream data is missing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3,526 (approximately 28% of)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 1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Drop records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feature and label stores where Customer_ID are not found in the set of Customer_ID in clickstream data</a:t>
            </a:r>
          </a:p>
          <a:p>
            <a:pPr marL="1143000" lvl="2" indent="-22860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Lose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than 1 quarter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dataset, significant reduction in training data impact model ability to generalize	</a:t>
            </a:r>
            <a:r>
              <a:rPr lang="en-SG" dirty="0">
                <a:solidFill>
                  <a:srgbClr val="FF0000"/>
                </a:solidFill>
              </a:rPr>
              <a:t>✖</a:t>
            </a:r>
          </a:p>
          <a:p>
            <a:pPr marL="1143000" lvl="2" indent="-228600">
              <a:buFont typeface="Wingdings" panose="05000000000000000000" pitchFamily="2" charset="2"/>
              <a:buChar char="Ø"/>
            </a:pPr>
            <a:endParaRPr lang="en-SG" sz="1200" dirty="0">
              <a:solidFill>
                <a:srgbClr val="FF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 2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Attempt to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extrapolate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clickstream data for missing customers</a:t>
            </a:r>
          </a:p>
          <a:p>
            <a:pPr marL="1143000" lvl="2" indent="-22860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Introduce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noise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bias,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limited information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nature of features (fe1-fe20) preventing accurate extrapolation	</a:t>
            </a:r>
            <a:r>
              <a:rPr lang="en-SG" dirty="0">
                <a:solidFill>
                  <a:srgbClr val="FF0000"/>
                </a:solidFill>
              </a:rPr>
              <a:t>✖</a:t>
            </a:r>
            <a:endParaRPr lang="en-SG" sz="1200" dirty="0">
              <a:solidFill>
                <a:srgbClr val="FF0000"/>
              </a:solidFill>
            </a:endParaRPr>
          </a:p>
          <a:p>
            <a:pPr marL="1143000" lvl="2" indent="-228600">
              <a:buFont typeface="Wingdings" panose="05000000000000000000" pitchFamily="2" charset="2"/>
              <a:buChar char="Ø"/>
            </a:pPr>
            <a:endParaRPr lang="en-SG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 3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Assume clickstream data to reflect some form of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activity (to verify with business)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therefore lack of data reflects absence of digital activity </a:t>
            </a:r>
            <a:r>
              <a:rPr lang="en-SG" dirty="0"/>
              <a:t>→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impute 0</a:t>
            </a:r>
          </a:p>
          <a:p>
            <a:pPr marL="1143000" lvl="2" indent="-22860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Absence of activity is a valid parameter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model learning, avoid injecting false assumptions, simple to implement </a:t>
            </a:r>
            <a:r>
              <a:rPr lang="en-SG" b="1" dirty="0">
                <a:solidFill>
                  <a:srgbClr val="00B050"/>
                </a:solidFill>
              </a:rPr>
              <a:t>✓</a:t>
            </a:r>
            <a:endParaRPr lang="en-SG" sz="1200" b="1" dirty="0">
              <a:solidFill>
                <a:srgbClr val="00B05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indent="-228600">
              <a:buAutoNum type="arabicPeriod" startAt="2"/>
            </a:pPr>
            <a:endParaRPr lang="en-SG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indent="-228600">
              <a:buAutoNum type="arabicPeriod" startAt="2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Backward looking aggregation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temporal data (features_clickstream) results in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misalignment of datapoints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available – lack of datapoints to compute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LM / L3M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aggregates for loans incepted in earlier months of dataset (2023-01-01to 2023-03-01)</a:t>
            </a: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 1: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“months_available”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flag while truncating aggregated data for loans incepted on or before 2023-03-01</a:t>
            </a:r>
          </a:p>
          <a:p>
            <a:pPr marL="1143000" lvl="2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Retains full dataset but may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introduces more complexities than value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model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may require even more datapoints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learn nuanced differences between how such a flag interacts differently with SUM and AVG aggregates		</a:t>
            </a:r>
            <a:r>
              <a:rPr lang="en-SG" dirty="0">
                <a:solidFill>
                  <a:srgbClr val="FF0000"/>
                </a:solidFill>
              </a:rPr>
              <a:t>✖</a:t>
            </a:r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685800" lvl="1" indent="-228600">
              <a:buFont typeface="Wingdings" panose="05000000000000000000" pitchFamily="2" charset="2"/>
              <a:buChar char="v"/>
            </a:pPr>
            <a:endParaRPr lang="en-SG" sz="1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685800" lvl="1" indent="-228600">
              <a:buFont typeface="Wingdings" panose="05000000000000000000" pitchFamily="2" charset="2"/>
              <a:buChar char="v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Option 2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Drop records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pertaining to loans incepted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or before 2023-03-01</a:t>
            </a:r>
          </a:p>
          <a:p>
            <a:pPr marL="1143000" lvl="2" indent="-228600">
              <a:buFont typeface="Wingdings" panose="05000000000000000000" pitchFamily="2" charset="2"/>
              <a:buChar char="Ø"/>
            </a:pP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Lose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1,537 (12.3%)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customers available,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increase of feature space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more practical approach considering ‘missing’ datapoints are </a:t>
            </a:r>
            <a:r>
              <a:rPr lang="en-SG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likely due to data sourcing limitations </a:t>
            </a:r>
            <a:r>
              <a:rPr lang="en-SG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rather than data quality issues		</a:t>
            </a:r>
            <a:r>
              <a:rPr lang="en-SG" b="1" dirty="0">
                <a:solidFill>
                  <a:srgbClr val="00B050"/>
                </a:solidFill>
              </a:rPr>
              <a:t>✓</a:t>
            </a:r>
            <a:endParaRPr lang="en-SG" b="1" dirty="0">
              <a:solidFill>
                <a:srgbClr val="00B05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Google Shape;2961;p63">
            <a:extLst>
              <a:ext uri="{FF2B5EF4-FFF2-40B4-BE49-F238E27FC236}">
                <a16:creationId xmlns:a16="http://schemas.microsoft.com/office/drawing/2014/main" id="{8840AEA5-E265-A691-40EE-AE0C03C40BB4}"/>
              </a:ext>
            </a:extLst>
          </p:cNvPr>
          <p:cNvSpPr txBox="1">
            <a:spLocks/>
          </p:cNvSpPr>
          <p:nvPr/>
        </p:nvSpPr>
        <p:spPr>
          <a:xfrm>
            <a:off x="1704740" y="307865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Gold Tables Processing – Pipelining Considerations</a:t>
            </a:r>
            <a:endParaRPr lang="en-US" dirty="0"/>
          </a:p>
        </p:txBody>
      </p:sp>
      <p:grpSp>
        <p:nvGrpSpPr>
          <p:cNvPr id="18" name="Google Shape;11537;p106">
            <a:extLst>
              <a:ext uri="{FF2B5EF4-FFF2-40B4-BE49-F238E27FC236}">
                <a16:creationId xmlns:a16="http://schemas.microsoft.com/office/drawing/2014/main" id="{0814E725-F628-2AF7-4BF6-35172C05F1C3}"/>
              </a:ext>
            </a:extLst>
          </p:cNvPr>
          <p:cNvGrpSpPr/>
          <p:nvPr/>
        </p:nvGrpSpPr>
        <p:grpSpPr>
          <a:xfrm>
            <a:off x="836010" y="172356"/>
            <a:ext cx="712849" cy="762149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19" name="Google Shape;11538;p106">
              <a:extLst>
                <a:ext uri="{FF2B5EF4-FFF2-40B4-BE49-F238E27FC236}">
                  <a16:creationId xmlns:a16="http://schemas.microsoft.com/office/drawing/2014/main" id="{E0D4ACB8-AB48-868A-F890-E3CC2A73C70B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39;p106">
              <a:extLst>
                <a:ext uri="{FF2B5EF4-FFF2-40B4-BE49-F238E27FC236}">
                  <a16:creationId xmlns:a16="http://schemas.microsoft.com/office/drawing/2014/main" id="{10AF2BF9-2410-E56E-DF02-6BACF0594CDC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40;p106">
              <a:extLst>
                <a:ext uri="{FF2B5EF4-FFF2-40B4-BE49-F238E27FC236}">
                  <a16:creationId xmlns:a16="http://schemas.microsoft.com/office/drawing/2014/main" id="{C56355DB-F8F6-D0EF-048D-BDA9CB0CBE8A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41;p106">
              <a:extLst>
                <a:ext uri="{FF2B5EF4-FFF2-40B4-BE49-F238E27FC236}">
                  <a16:creationId xmlns:a16="http://schemas.microsoft.com/office/drawing/2014/main" id="{E639EB19-79B5-6749-6F6F-0E87AC3BD3E7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42;p106">
              <a:extLst>
                <a:ext uri="{FF2B5EF4-FFF2-40B4-BE49-F238E27FC236}">
                  <a16:creationId xmlns:a16="http://schemas.microsoft.com/office/drawing/2014/main" id="{BA798D52-3AE7-FF07-E6DB-B44D0BAB26FA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2716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DD404-F6D8-0ABB-FA5E-AB7F2DAD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3A5EE4-0E24-8E2B-2E97-2E3B981D62DB}"/>
              </a:ext>
            </a:extLst>
          </p:cNvPr>
          <p:cNvSpPr txBox="1"/>
          <p:nvPr/>
        </p:nvSpPr>
        <p:spPr>
          <a:xfrm>
            <a:off x="623017" y="999837"/>
            <a:ext cx="1021758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Gold Tables Processing Steps:</a:t>
            </a:r>
            <a:endParaRPr lang="en-SG" sz="1400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Filter away loans on or before 2023-03-1 (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 truncation of aggregated features</a:t>
            </a: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Label Store – Label definition: default_flag=1 if customer has any overdue_amt &gt; 0 over the life of the loan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label leakage </a:t>
            </a: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every Customer_ID only has 1 loan, and any overdue_amt relates to future outcome relative to loan_start_date</a:t>
            </a:r>
          </a:p>
          <a:p>
            <a:pPr lvl="1"/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aggregated features (AVG_L3M / SUM_L3M / LM) from temporal clickstream data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Aggregation done for each customer using 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snapshot_date immediately before loan_start_date</a:t>
            </a: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Feature Store – “Customer_ID” and “loan_start_date” from 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Label store used as anchor keys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Left join static features (attributes and financials) followed by aggregated clickstream features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no data leakage – static features joined on static_feats.snapshot_date, temporal features joined on click_aggs.loan_start_date (already aggregated per logic above)</a:t>
            </a:r>
          </a:p>
          <a:p>
            <a:pPr marL="342900" indent="-342900">
              <a:buFont typeface="+mj-lt"/>
              <a:buAutoNum type="arabicPeriod"/>
            </a:pPr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date-based splits on both feature and label stores using – 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gold_config.yaml  defines split windows</a:t>
            </a:r>
          </a:p>
          <a:p>
            <a:pPr marL="342900" indent="-342900">
              <a:buFont typeface="+mj-lt"/>
              <a:buAutoNum type="arabicPeriod"/>
            </a:pPr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 specific handling – apply missing value treatment and encoding based on 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 set data or gold_config.yaml</a:t>
            </a:r>
            <a:endParaRPr lang="en-SG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Details on encoding strategy and missing value handling can be found in following slides</a:t>
            </a:r>
          </a:p>
          <a:p>
            <a:pPr marL="342900" indent="-342900">
              <a:buFont typeface="+mj-lt"/>
              <a:buAutoNum type="arabicPeriod"/>
            </a:pPr>
            <a:endParaRPr lang="en-SG" sz="1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6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Objective:</a:t>
            </a:r>
            <a:endParaRPr lang="en-SG" sz="1400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Gold tables are split into Feature and Label Stores, each store further split into train / val / test / OOT sets. Gold layer built to be </a:t>
            </a:r>
            <a:r>
              <a:rPr lang="en-SG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ML ready </a:t>
            </a:r>
            <a:r>
              <a:rPr lang="en-SG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(identifiers to be dropped during ML pipeline) and designed based on requirements for a tree based model – (no scaling applied). Encoding format is designed to be compatible with most scikit-learn models rather than SparkML models.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D32DA3-D3D1-49BC-8338-594D9B356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085316"/>
              </p:ext>
            </p:extLst>
          </p:nvPr>
        </p:nvGraphicFramePr>
        <p:xfrm>
          <a:off x="8527055" y="2341419"/>
          <a:ext cx="2951340" cy="6629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3780">
                  <a:extLst>
                    <a:ext uri="{9D8B030D-6E8A-4147-A177-3AD203B41FA5}">
                      <a16:colId xmlns:a16="http://schemas.microsoft.com/office/drawing/2014/main" val="3744693795"/>
                    </a:ext>
                  </a:extLst>
                </a:gridCol>
                <a:gridCol w="867054">
                  <a:extLst>
                    <a:ext uri="{9D8B030D-6E8A-4147-A177-3AD203B41FA5}">
                      <a16:colId xmlns:a16="http://schemas.microsoft.com/office/drawing/2014/main" val="3691410686"/>
                    </a:ext>
                  </a:extLst>
                </a:gridCol>
                <a:gridCol w="1100506">
                  <a:extLst>
                    <a:ext uri="{9D8B030D-6E8A-4147-A177-3AD203B41FA5}">
                      <a16:colId xmlns:a16="http://schemas.microsoft.com/office/drawing/2014/main" val="3726735974"/>
                    </a:ext>
                  </a:extLst>
                </a:gridCol>
              </a:tblGrid>
              <a:tr h="210903">
                <a:tc>
                  <a:txBody>
                    <a:bodyPr/>
                    <a:lstStyle/>
                    <a:p>
                      <a:pPr algn="ctr"/>
                      <a:r>
                        <a:rPr lang="en-SG" sz="900" b="0" dirty="0"/>
                        <a:t>Loan_start_date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50" b="0" dirty="0"/>
                        <a:t>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50" b="0" dirty="0"/>
                        <a:t>L3M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093953"/>
                  </a:ext>
                </a:extLst>
              </a:tr>
              <a:tr h="345114">
                <a:tc>
                  <a:txBody>
                    <a:bodyPr/>
                    <a:lstStyle/>
                    <a:p>
                      <a:r>
                        <a:rPr lang="en-SG" sz="1050" b="0" dirty="0"/>
                        <a:t>2025-01-01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050" b="0" dirty="0"/>
                        <a:t>2024-12-01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050" b="0" dirty="0"/>
                        <a:t>2024-10-01 to 2024-12-01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314247"/>
                  </a:ext>
                </a:extLst>
              </a:tr>
            </a:tbl>
          </a:graphicData>
        </a:graphic>
      </p:graphicFrame>
      <p:sp>
        <p:nvSpPr>
          <p:cNvPr id="13" name="Google Shape;2961;p63">
            <a:extLst>
              <a:ext uri="{FF2B5EF4-FFF2-40B4-BE49-F238E27FC236}">
                <a16:creationId xmlns:a16="http://schemas.microsoft.com/office/drawing/2014/main" id="{98C1F1AA-8D36-DE01-75E0-2DC68D6921A2}"/>
              </a:ext>
            </a:extLst>
          </p:cNvPr>
          <p:cNvSpPr txBox="1">
            <a:spLocks/>
          </p:cNvSpPr>
          <p:nvPr/>
        </p:nvSpPr>
        <p:spPr>
          <a:xfrm>
            <a:off x="1704740" y="307865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Gold Tables Processing</a:t>
            </a:r>
            <a:endParaRPr lang="en-US" dirty="0"/>
          </a:p>
        </p:txBody>
      </p:sp>
      <p:grpSp>
        <p:nvGrpSpPr>
          <p:cNvPr id="14" name="Google Shape;11537;p106">
            <a:extLst>
              <a:ext uri="{FF2B5EF4-FFF2-40B4-BE49-F238E27FC236}">
                <a16:creationId xmlns:a16="http://schemas.microsoft.com/office/drawing/2014/main" id="{A0FDB38B-6929-101C-3864-70F8B96F4404}"/>
              </a:ext>
            </a:extLst>
          </p:cNvPr>
          <p:cNvGrpSpPr/>
          <p:nvPr/>
        </p:nvGrpSpPr>
        <p:grpSpPr>
          <a:xfrm>
            <a:off x="836010" y="172356"/>
            <a:ext cx="712849" cy="762149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15" name="Google Shape;11538;p106">
              <a:extLst>
                <a:ext uri="{FF2B5EF4-FFF2-40B4-BE49-F238E27FC236}">
                  <a16:creationId xmlns:a16="http://schemas.microsoft.com/office/drawing/2014/main" id="{7EDADB95-C900-8228-E1DC-357D495E1C3E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39;p106">
              <a:extLst>
                <a:ext uri="{FF2B5EF4-FFF2-40B4-BE49-F238E27FC236}">
                  <a16:creationId xmlns:a16="http://schemas.microsoft.com/office/drawing/2014/main" id="{AB0A3EB0-5D7F-37BE-9A1B-35263A4CDD9A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40;p106">
              <a:extLst>
                <a:ext uri="{FF2B5EF4-FFF2-40B4-BE49-F238E27FC236}">
                  <a16:creationId xmlns:a16="http://schemas.microsoft.com/office/drawing/2014/main" id="{6A7EA61E-ECD8-96C7-2E43-BB0E2BD677A6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541;p106">
              <a:extLst>
                <a:ext uri="{FF2B5EF4-FFF2-40B4-BE49-F238E27FC236}">
                  <a16:creationId xmlns:a16="http://schemas.microsoft.com/office/drawing/2014/main" id="{163888DE-7D75-185E-503B-516948957249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542;p106">
              <a:extLst>
                <a:ext uri="{FF2B5EF4-FFF2-40B4-BE49-F238E27FC236}">
                  <a16:creationId xmlns:a16="http://schemas.microsoft.com/office/drawing/2014/main" id="{EF9BBEC9-43C6-762D-3951-C6A1FDD28EC1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912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134DFD-233C-F8B4-CD07-FEBA3D756A45}"/>
              </a:ext>
            </a:extLst>
          </p:cNvPr>
          <p:cNvSpPr txBox="1"/>
          <p:nvPr/>
        </p:nvSpPr>
        <p:spPr>
          <a:xfrm>
            <a:off x="623017" y="999837"/>
            <a:ext cx="942268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Encoding Decisioning</a:t>
            </a:r>
            <a:endParaRPr lang="en-SG" b="1" u="sn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and maintain a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gold_config.yaml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for features which are expected to contain only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approved values</a:t>
            </a:r>
          </a:p>
          <a:p>
            <a:endParaRPr lang="en-SG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Processing pipeline verifies that columns like “Types_of_Loan” contain only approved list of values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Adopt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lenient policy –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 warning and ignore unapproved values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stability of gold table schema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(after multi-hot-encoding)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Early detection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data drift or data quality issues if unexpected values appear</a:t>
            </a:r>
          </a:p>
          <a:p>
            <a:pPr lvl="1"/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Multi-hot encoding relies on expected set of values from gold_config.yaml to apply encoding to all splits (train / validation / test / OOT)</a:t>
            </a:r>
          </a:p>
          <a:p>
            <a:endParaRPr lang="en-SG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Encoding pipeline for other categorical variables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fits only on train dataset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transforms other splits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(test / validation / OOT) using the train fitted pipeline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Guarantees no data leakage </a:t>
            </a: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unseen datasets into training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S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splits result in the same number of columns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105581-A276-2E3B-ED0E-A683F48D3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051" y="2376667"/>
            <a:ext cx="2051112" cy="2416986"/>
          </a:xfrm>
          <a:prstGeom prst="rect">
            <a:avLst/>
          </a:prstGeom>
        </p:spPr>
      </p:pic>
      <p:sp>
        <p:nvSpPr>
          <p:cNvPr id="10" name="Google Shape;2961;p63">
            <a:extLst>
              <a:ext uri="{FF2B5EF4-FFF2-40B4-BE49-F238E27FC236}">
                <a16:creationId xmlns:a16="http://schemas.microsoft.com/office/drawing/2014/main" id="{AC36AD7B-D575-B163-90F0-7F2C75DE3461}"/>
              </a:ext>
            </a:extLst>
          </p:cNvPr>
          <p:cNvSpPr txBox="1">
            <a:spLocks/>
          </p:cNvSpPr>
          <p:nvPr/>
        </p:nvSpPr>
        <p:spPr>
          <a:xfrm>
            <a:off x="1704740" y="307865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Gold Tables Processing – Pipelining Considerations</a:t>
            </a:r>
            <a:endParaRPr lang="en-US" dirty="0"/>
          </a:p>
        </p:txBody>
      </p:sp>
      <p:grpSp>
        <p:nvGrpSpPr>
          <p:cNvPr id="11" name="Google Shape;11537;p106">
            <a:extLst>
              <a:ext uri="{FF2B5EF4-FFF2-40B4-BE49-F238E27FC236}">
                <a16:creationId xmlns:a16="http://schemas.microsoft.com/office/drawing/2014/main" id="{76BEE528-42AD-FA29-F144-38974E97853C}"/>
              </a:ext>
            </a:extLst>
          </p:cNvPr>
          <p:cNvGrpSpPr/>
          <p:nvPr/>
        </p:nvGrpSpPr>
        <p:grpSpPr>
          <a:xfrm>
            <a:off x="836010" y="172356"/>
            <a:ext cx="712849" cy="762149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12" name="Google Shape;11538;p106">
              <a:extLst>
                <a:ext uri="{FF2B5EF4-FFF2-40B4-BE49-F238E27FC236}">
                  <a16:creationId xmlns:a16="http://schemas.microsoft.com/office/drawing/2014/main" id="{D5DC94E8-BE3E-4921-371D-03D6496A6D63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39;p106">
              <a:extLst>
                <a:ext uri="{FF2B5EF4-FFF2-40B4-BE49-F238E27FC236}">
                  <a16:creationId xmlns:a16="http://schemas.microsoft.com/office/drawing/2014/main" id="{5EAA81F8-2F1A-945F-D20E-45D5682F7386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40;p106">
              <a:extLst>
                <a:ext uri="{FF2B5EF4-FFF2-40B4-BE49-F238E27FC236}">
                  <a16:creationId xmlns:a16="http://schemas.microsoft.com/office/drawing/2014/main" id="{80F25E0A-FFAD-6DEE-CBA5-EFFCD7FF4C41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541;p106">
              <a:extLst>
                <a:ext uri="{FF2B5EF4-FFF2-40B4-BE49-F238E27FC236}">
                  <a16:creationId xmlns:a16="http://schemas.microsoft.com/office/drawing/2014/main" id="{E227A422-735E-F21A-F502-61F876DCF04B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42;p106">
              <a:extLst>
                <a:ext uri="{FF2B5EF4-FFF2-40B4-BE49-F238E27FC236}">
                  <a16:creationId xmlns:a16="http://schemas.microsoft.com/office/drawing/2014/main" id="{3CA29FD0-E3F6-E0C9-3C55-D3AE1B1748E1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03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BEFD0B-3705-3BCC-6D64-9F5962871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35729"/>
              </p:ext>
            </p:extLst>
          </p:nvPr>
        </p:nvGraphicFramePr>
        <p:xfrm>
          <a:off x="447085" y="965753"/>
          <a:ext cx="11297829" cy="3831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377">
                  <a:extLst>
                    <a:ext uri="{9D8B030D-6E8A-4147-A177-3AD203B41FA5}">
                      <a16:colId xmlns:a16="http://schemas.microsoft.com/office/drawing/2014/main" val="4181349452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1674712884"/>
                    </a:ext>
                  </a:extLst>
                </a:gridCol>
                <a:gridCol w="6199833">
                  <a:extLst>
                    <a:ext uri="{9D8B030D-6E8A-4147-A177-3AD203B41FA5}">
                      <a16:colId xmlns:a16="http://schemas.microsoft.com/office/drawing/2014/main" val="228915253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986094348"/>
                    </a:ext>
                  </a:extLst>
                </a:gridCol>
                <a:gridCol w="821747">
                  <a:extLst>
                    <a:ext uri="{9D8B030D-6E8A-4147-A177-3AD203B41FA5}">
                      <a16:colId xmlns:a16="http://schemas.microsoft.com/office/drawing/2014/main" val="3823869201"/>
                    </a:ext>
                  </a:extLst>
                </a:gridCol>
                <a:gridCol w="995396">
                  <a:extLst>
                    <a:ext uri="{9D8B030D-6E8A-4147-A177-3AD203B41FA5}">
                      <a16:colId xmlns:a16="http://schemas.microsoft.com/office/drawing/2014/main" val="2312546673"/>
                    </a:ext>
                  </a:extLst>
                </a:gridCol>
              </a:tblGrid>
              <a:tr h="250907">
                <a:tc rowSpan="2"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Feature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Data Type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Missing - Reason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Fill / Impute Strategy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Missing Frequency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778907"/>
                  </a:ext>
                </a:extLst>
              </a:tr>
              <a:tr h="225816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382464"/>
                  </a:ext>
                </a:extLst>
              </a:tr>
              <a:tr h="342478">
                <a:tc>
                  <a:txBody>
                    <a:bodyPr/>
                    <a:lstStyle/>
                    <a:p>
                      <a:r>
                        <a:rPr lang="en-SG" sz="1100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Unrealistic values (negative or values above reasonable cap 120) replaced with NaN on silver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0.83%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004939"/>
                  </a:ext>
                </a:extLst>
              </a:tr>
              <a:tr h="213271">
                <a:tc>
                  <a:txBody>
                    <a:bodyPr/>
                    <a:lstStyle/>
                    <a:p>
                      <a:r>
                        <a:rPr lang="en-SG" sz="1100" dirty="0"/>
                        <a:t>Occupation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“______” values were replace with NaN on silver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“Unknown”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880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7.04%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678877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r>
                        <a:rPr lang="en-SG" sz="1100" dirty="0"/>
                        <a:t>Num_Bank_Accounts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Negative values treated as invalid and replace with NaN on silver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0.03%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460648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r>
                        <a:rPr lang="en-SG" sz="1100" dirty="0"/>
                        <a:t>Type_of_Loan_list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Array(</a:t>
                      </a:r>
                    </a:p>
                    <a:p>
                      <a:r>
                        <a:rPr lang="en-SG" sz="1100" dirty="0"/>
                        <a:t>String)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Missing values indicate no loans (Num_of_Loans ==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“No_Loan”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1,426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11.41%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892424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r>
                        <a:rPr lang="en-SG" sz="1100" dirty="0"/>
                        <a:t>Changed_Credit_Limit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Invalid “_” values were replaced with NaN on silver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Impute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2.03%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150933"/>
                  </a:ext>
                </a:extLst>
              </a:tr>
              <a:tr h="213271">
                <a:tc>
                  <a:txBody>
                    <a:bodyPr/>
                    <a:lstStyle/>
                    <a:p>
                      <a:r>
                        <a:rPr lang="en-SG" sz="1100" dirty="0"/>
                        <a:t>Credit_Mix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Invalid “_” values were replaced with NaN on silver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“Unknown”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2,611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20.89%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525723"/>
                  </a:ext>
                </a:extLst>
              </a:tr>
              <a:tr h="351269">
                <a:tc>
                  <a:txBody>
                    <a:bodyPr/>
                    <a:lstStyle/>
                    <a:p>
                      <a:r>
                        <a:rPr lang="en-SG" sz="1100" dirty="0"/>
                        <a:t>Payment_Behvaiour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Invalid </a:t>
                      </a:r>
                      <a:r>
                        <a:rPr 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‘!@9#%8’ values were replaced with NaN on silver tables</a:t>
                      </a:r>
                      <a:endParaRPr lang="en-SG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“Unknown”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7.98%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730832"/>
                  </a:ext>
                </a:extLst>
              </a:tr>
              <a:tr h="342478">
                <a:tc>
                  <a:txBody>
                    <a:bodyPr/>
                    <a:lstStyle/>
                    <a:p>
                      <a:r>
                        <a:rPr lang="en-SG" sz="1100" dirty="0"/>
                        <a:t>Monthly_Balance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Invalid </a:t>
                      </a:r>
                      <a:r>
                        <a:rPr 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‘__-333333333333333333333333333__’  values were replaced with NaN on silver tables</a:t>
                      </a:r>
                      <a:endParaRPr lang="en-SG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Impute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0.01%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02927"/>
                  </a:ext>
                </a:extLst>
              </a:tr>
              <a:tr h="342478">
                <a:tc>
                  <a:txBody>
                    <a:bodyPr/>
                    <a:lstStyle/>
                    <a:p>
                      <a:r>
                        <a:rPr lang="en-SG" sz="1100" dirty="0"/>
                        <a:t>fe_1 – fe_20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Absence of digital activity / profile – to confirm with business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Impute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3,526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28.21%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10178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DFD443-EBFB-B36B-F98C-76D01213B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905683"/>
              </p:ext>
            </p:extLst>
          </p:nvPr>
        </p:nvGraphicFramePr>
        <p:xfrm>
          <a:off x="447085" y="4999088"/>
          <a:ext cx="11297829" cy="154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253">
                  <a:extLst>
                    <a:ext uri="{9D8B030D-6E8A-4147-A177-3AD203B41FA5}">
                      <a16:colId xmlns:a16="http://schemas.microsoft.com/office/drawing/2014/main" val="2451144537"/>
                    </a:ext>
                  </a:extLst>
                </a:gridCol>
                <a:gridCol w="1779769">
                  <a:extLst>
                    <a:ext uri="{9D8B030D-6E8A-4147-A177-3AD203B41FA5}">
                      <a16:colId xmlns:a16="http://schemas.microsoft.com/office/drawing/2014/main" val="750783530"/>
                    </a:ext>
                  </a:extLst>
                </a:gridCol>
                <a:gridCol w="1311532">
                  <a:extLst>
                    <a:ext uri="{9D8B030D-6E8A-4147-A177-3AD203B41FA5}">
                      <a16:colId xmlns:a16="http://schemas.microsoft.com/office/drawing/2014/main" val="3468208431"/>
                    </a:ext>
                  </a:extLst>
                </a:gridCol>
                <a:gridCol w="6400275">
                  <a:extLst>
                    <a:ext uri="{9D8B030D-6E8A-4147-A177-3AD203B41FA5}">
                      <a16:colId xmlns:a16="http://schemas.microsoft.com/office/drawing/2014/main" val="2970174281"/>
                    </a:ext>
                  </a:extLst>
                </a:gridCol>
              </a:tblGrid>
              <a:tr h="302214">
                <a:tc>
                  <a:txBody>
                    <a:bodyPr/>
                    <a:lstStyle/>
                    <a:p>
                      <a:r>
                        <a:rPr lang="en-SG" sz="1600" dirty="0"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450947"/>
                  </a:ext>
                </a:extLst>
              </a:tr>
              <a:tr h="302214">
                <a:tc>
                  <a:txBody>
                    <a:bodyPr/>
                    <a:lstStyle/>
                    <a:p>
                      <a:r>
                        <a:rPr lang="en-SG" sz="1200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2023-04 → 2024-06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15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Used to fit models and transformations (</a:t>
                      </a:r>
                      <a:r>
                        <a:rPr lang="en-US" sz="1200" dirty="0" err="1"/>
                        <a:t>StringIndexer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OneHotEncoder</a:t>
                      </a:r>
                      <a:r>
                        <a:rPr lang="en-US" sz="1200" dirty="0"/>
                        <a:t>, etc.)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76227"/>
                  </a:ext>
                </a:extLst>
              </a:tr>
              <a:tr h="302214">
                <a:tc>
                  <a:txBody>
                    <a:bodyPr/>
                    <a:lstStyle/>
                    <a:p>
                      <a:r>
                        <a:rPr lang="en-SG" sz="12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2024-07 → 2024-09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Used for hyperparameter tuning / early stopping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016471"/>
                  </a:ext>
                </a:extLst>
              </a:tr>
              <a:tr h="302214">
                <a:tc>
                  <a:txBody>
                    <a:bodyPr/>
                    <a:lstStyle/>
                    <a:p>
                      <a:r>
                        <a:rPr lang="en-SG" sz="12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2024-10 → 2024-12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Final performance evaluation before deployment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5946"/>
                  </a:ext>
                </a:extLst>
              </a:tr>
              <a:tr h="302214">
                <a:tc>
                  <a:txBody>
                    <a:bodyPr/>
                    <a:lstStyle/>
                    <a:p>
                      <a:r>
                        <a:rPr lang="en-SG" sz="1200" dirty="0"/>
                        <a:t>OOT (Out of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2025-01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200" dirty="0"/>
                        <a:t>1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Simulates unseen future data for production generalization check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743141"/>
                  </a:ext>
                </a:extLst>
              </a:tr>
            </a:tbl>
          </a:graphicData>
        </a:graphic>
      </p:graphicFrame>
      <p:sp>
        <p:nvSpPr>
          <p:cNvPr id="10" name="Google Shape;2961;p63">
            <a:extLst>
              <a:ext uri="{FF2B5EF4-FFF2-40B4-BE49-F238E27FC236}">
                <a16:creationId xmlns:a16="http://schemas.microsoft.com/office/drawing/2014/main" id="{BD591BFE-2498-AA50-E543-BC926A1EA6E1}"/>
              </a:ext>
            </a:extLst>
          </p:cNvPr>
          <p:cNvSpPr txBox="1">
            <a:spLocks/>
          </p:cNvSpPr>
          <p:nvPr/>
        </p:nvSpPr>
        <p:spPr>
          <a:xfrm>
            <a:off x="1704740" y="307865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Gold Tables Processing – ML specific handling</a:t>
            </a:r>
            <a:endParaRPr lang="en-US" dirty="0"/>
          </a:p>
        </p:txBody>
      </p:sp>
      <p:grpSp>
        <p:nvGrpSpPr>
          <p:cNvPr id="11" name="Google Shape;11537;p106">
            <a:extLst>
              <a:ext uri="{FF2B5EF4-FFF2-40B4-BE49-F238E27FC236}">
                <a16:creationId xmlns:a16="http://schemas.microsoft.com/office/drawing/2014/main" id="{92FF6E0B-A2B9-0BD5-F59A-5A4D346587F2}"/>
              </a:ext>
            </a:extLst>
          </p:cNvPr>
          <p:cNvGrpSpPr/>
          <p:nvPr/>
        </p:nvGrpSpPr>
        <p:grpSpPr>
          <a:xfrm>
            <a:off x="836010" y="172356"/>
            <a:ext cx="712849" cy="762149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12" name="Google Shape;11538;p106">
              <a:extLst>
                <a:ext uri="{FF2B5EF4-FFF2-40B4-BE49-F238E27FC236}">
                  <a16:creationId xmlns:a16="http://schemas.microsoft.com/office/drawing/2014/main" id="{E87F3E2A-FC9D-4CB8-B8F6-8B3377F0CC04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39;p106">
              <a:extLst>
                <a:ext uri="{FF2B5EF4-FFF2-40B4-BE49-F238E27FC236}">
                  <a16:creationId xmlns:a16="http://schemas.microsoft.com/office/drawing/2014/main" id="{00266D25-43FD-3A37-573A-07D78E57A0C2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40;p106">
              <a:extLst>
                <a:ext uri="{FF2B5EF4-FFF2-40B4-BE49-F238E27FC236}">
                  <a16:creationId xmlns:a16="http://schemas.microsoft.com/office/drawing/2014/main" id="{4DD00BE8-6B59-BE52-C7E4-17C776BCDA1A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541;p106">
              <a:extLst>
                <a:ext uri="{FF2B5EF4-FFF2-40B4-BE49-F238E27FC236}">
                  <a16:creationId xmlns:a16="http://schemas.microsoft.com/office/drawing/2014/main" id="{932950AD-924D-9797-9897-FFF3B120E739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42;p106">
              <a:extLst>
                <a:ext uri="{FF2B5EF4-FFF2-40B4-BE49-F238E27FC236}">
                  <a16:creationId xmlns:a16="http://schemas.microsoft.com/office/drawing/2014/main" id="{FD5A4275-17A4-76AB-C37C-2DDC42778414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832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61;p63">
            <a:extLst>
              <a:ext uri="{FF2B5EF4-FFF2-40B4-BE49-F238E27FC236}">
                <a16:creationId xmlns:a16="http://schemas.microsoft.com/office/drawing/2014/main" id="{9FA415AA-3F34-FB82-E525-E6A57E521A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4740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Gold Tables Processing – Feature &amp; Label Stores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8361-2523-4208-F0C5-06B8F4FD5A2C}"/>
              </a:ext>
            </a:extLst>
          </p:cNvPr>
          <p:cNvSpPr txBox="1"/>
          <p:nvPr/>
        </p:nvSpPr>
        <p:spPr>
          <a:xfrm>
            <a:off x="8571855" y="4108928"/>
            <a:ext cx="27871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Temporal customer attributes varies with each snapshot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snapshot dates range between </a:t>
            </a:r>
            <a:r>
              <a:rPr lang="en-SG" sz="1000" b="1" dirty="0">
                <a:solidFill>
                  <a:schemeClr val="accent5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2023-01-01 to 2024-12-01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en-SG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Temporal features are to be </a:t>
            </a:r>
            <a:r>
              <a:rPr lang="en-SG" sz="10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aggregated relative to the loan_start_date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en-SG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i.e. AVG_fe1_L3M / fe1_LM, etc </a:t>
            </a:r>
          </a:p>
          <a:p>
            <a:endParaRPr lang="en-SG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Snapshot date aligns with other feature and label datasets post aggregation.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DF2DF1-9A0E-849F-B678-90CF8DEF9E4E}"/>
              </a:ext>
            </a:extLst>
          </p:cNvPr>
          <p:cNvGrpSpPr/>
          <p:nvPr/>
        </p:nvGrpSpPr>
        <p:grpSpPr>
          <a:xfrm>
            <a:off x="8691079" y="1615605"/>
            <a:ext cx="2832291" cy="2505400"/>
            <a:chOff x="393795" y="1017725"/>
            <a:chExt cx="2832291" cy="25054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C8D290C-CEE0-8BC5-AF97-972FA718B3DE}"/>
                </a:ext>
              </a:extLst>
            </p:cNvPr>
            <p:cNvGrpSpPr/>
            <p:nvPr/>
          </p:nvGrpSpPr>
          <p:grpSpPr>
            <a:xfrm>
              <a:off x="393795" y="1017725"/>
              <a:ext cx="2832291" cy="2505400"/>
              <a:chOff x="475988" y="1162474"/>
              <a:chExt cx="2832291" cy="25054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6DFCFEB-3C9B-D0ED-E1A8-843D20BBB71A}"/>
                  </a:ext>
                </a:extLst>
              </p:cNvPr>
              <p:cNvGrpSpPr/>
              <p:nvPr/>
            </p:nvGrpSpPr>
            <p:grpSpPr>
              <a:xfrm>
                <a:off x="475988" y="1162474"/>
                <a:ext cx="2575438" cy="2505400"/>
                <a:chOff x="2068481" y="1912488"/>
                <a:chExt cx="3385831" cy="3068812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6E9FDD38-79BC-7EA5-479D-AC5F26A03F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85119"/>
                <a:stretch>
                  <a:fillRect/>
                </a:stretch>
              </p:blipFill>
              <p:spPr>
                <a:xfrm>
                  <a:off x="2068481" y="1912488"/>
                  <a:ext cx="1198701" cy="3033023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744262A1-B564-B316-AD0B-0D8951AAAD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67182" y="1933036"/>
                  <a:ext cx="2187130" cy="3048264"/>
                </a:xfrm>
                <a:prstGeom prst="rect">
                  <a:avLst/>
                </a:prstGeom>
              </p:spPr>
            </p:pic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5B66E8-0322-1AA8-8F90-D5006E3C7405}"/>
                  </a:ext>
                </a:extLst>
              </p:cNvPr>
              <p:cNvSpPr txBox="1"/>
              <p:nvPr/>
            </p:nvSpPr>
            <p:spPr>
              <a:xfrm>
                <a:off x="1860394" y="3422995"/>
                <a:ext cx="144788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9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features_clickstream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7D3FAF4-AC66-9926-1F38-C56409825E06}"/>
                </a:ext>
              </a:extLst>
            </p:cNvPr>
            <p:cNvSpPr/>
            <p:nvPr/>
          </p:nvSpPr>
          <p:spPr>
            <a:xfrm>
              <a:off x="2066544" y="1234133"/>
              <a:ext cx="902689" cy="338635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720CD7-A31C-DC02-2276-86B7B2024E72}"/>
                </a:ext>
              </a:extLst>
            </p:cNvPr>
            <p:cNvSpPr/>
            <p:nvPr/>
          </p:nvSpPr>
          <p:spPr>
            <a:xfrm>
              <a:off x="2072640" y="1789176"/>
              <a:ext cx="902689" cy="155448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FF3667-2D69-4D5D-26E1-A3643455F554}"/>
              </a:ext>
            </a:extLst>
          </p:cNvPr>
          <p:cNvGrpSpPr/>
          <p:nvPr/>
        </p:nvGrpSpPr>
        <p:grpSpPr>
          <a:xfrm>
            <a:off x="5362704" y="1664981"/>
            <a:ext cx="2912414" cy="2497574"/>
            <a:chOff x="5097431" y="1908682"/>
            <a:chExt cx="3677227" cy="312833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FECFF7E-1F70-8AF5-5E34-8C9D41D303DA}"/>
                </a:ext>
              </a:extLst>
            </p:cNvPr>
            <p:cNvGrpSpPr/>
            <p:nvPr/>
          </p:nvGrpSpPr>
          <p:grpSpPr>
            <a:xfrm>
              <a:off x="5116745" y="1908682"/>
              <a:ext cx="3657913" cy="3128338"/>
              <a:chOff x="5116745" y="1908682"/>
              <a:chExt cx="3657913" cy="3128338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C81E7C76-A90C-85FD-6002-817BAAAFA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6745" y="1919064"/>
                <a:ext cx="1958510" cy="2949196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3817E48-9D9A-C191-B96A-7F816329C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486"/>
              <a:stretch>
                <a:fillRect/>
              </a:stretch>
            </p:blipFill>
            <p:spPr>
              <a:xfrm>
                <a:off x="7075255" y="1908682"/>
                <a:ext cx="1653683" cy="2967484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94D273C-1D9E-E0F0-D546-3809355B2E41}"/>
                  </a:ext>
                </a:extLst>
              </p:cNvPr>
              <p:cNvSpPr txBox="1"/>
              <p:nvPr/>
            </p:nvSpPr>
            <p:spPr>
              <a:xfrm>
                <a:off x="7048795" y="4747891"/>
                <a:ext cx="1725863" cy="289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9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features_financials</a:t>
                </a:r>
              </a:p>
            </p:txBody>
          </p:sp>
        </p:grp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6EDBD8A-BCDD-77F3-D83A-6A9A3BBFEE94}"/>
                </a:ext>
              </a:extLst>
            </p:cNvPr>
            <p:cNvSpPr/>
            <p:nvPr/>
          </p:nvSpPr>
          <p:spPr>
            <a:xfrm>
              <a:off x="5097431" y="2136927"/>
              <a:ext cx="1175353" cy="450825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9045FAB-92F7-0A8F-F349-99EADC4E437C}"/>
                </a:ext>
              </a:extLst>
            </p:cNvPr>
            <p:cNvSpPr/>
            <p:nvPr/>
          </p:nvSpPr>
          <p:spPr>
            <a:xfrm>
              <a:off x="8300398" y="2136926"/>
              <a:ext cx="428540" cy="450825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E081B1D-3D8F-A382-792E-25348A00C428}"/>
              </a:ext>
            </a:extLst>
          </p:cNvPr>
          <p:cNvSpPr txBox="1"/>
          <p:nvPr/>
        </p:nvSpPr>
        <p:spPr>
          <a:xfrm>
            <a:off x="5239718" y="4147463"/>
            <a:ext cx="32498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financial profile information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snapshot dates range between</a:t>
            </a:r>
            <a:r>
              <a:rPr lang="en-SG" sz="1000" dirty="0">
                <a:solidFill>
                  <a:srgbClr val="00B05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SG" sz="1000" b="1" dirty="0">
                <a:solidFill>
                  <a:srgbClr val="00B05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2023-01-01 to 2025-01-01 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aligns with features_attributes and lms_loan_daily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CFA523-DEC2-B545-0AC8-4D5CED7594FD}"/>
              </a:ext>
            </a:extLst>
          </p:cNvPr>
          <p:cNvGrpSpPr/>
          <p:nvPr/>
        </p:nvGrpSpPr>
        <p:grpSpPr>
          <a:xfrm>
            <a:off x="5400670" y="4773785"/>
            <a:ext cx="2425437" cy="1314402"/>
            <a:chOff x="6607129" y="1603176"/>
            <a:chExt cx="2426873" cy="131636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96A83B2-C209-3160-0B50-997096D78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60287"/>
            <a:stretch>
              <a:fillRect/>
            </a:stretch>
          </p:blipFill>
          <p:spPr>
            <a:xfrm>
              <a:off x="6607130" y="1603176"/>
              <a:ext cx="1576750" cy="111261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4061682-1C5B-50EF-4EC2-4C7DB963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1399"/>
            <a:stretch>
              <a:fillRect/>
            </a:stretch>
          </p:blipFill>
          <p:spPr>
            <a:xfrm>
              <a:off x="8183880" y="1603176"/>
              <a:ext cx="738550" cy="1112616"/>
            </a:xfrm>
            <a:prstGeom prst="rect">
              <a:avLst/>
            </a:prstGeom>
          </p:spPr>
        </p:pic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ECA9461-BEA0-5A9D-B5DC-AF8B8A16DE34}"/>
                </a:ext>
              </a:extLst>
            </p:cNvPr>
            <p:cNvSpPr/>
            <p:nvPr/>
          </p:nvSpPr>
          <p:spPr>
            <a:xfrm>
              <a:off x="6607129" y="1850838"/>
              <a:ext cx="1116603" cy="407729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31E27AA-D2D7-4A75-88D5-865CDFC35677}"/>
                </a:ext>
              </a:extLst>
            </p:cNvPr>
            <p:cNvSpPr/>
            <p:nvPr/>
          </p:nvSpPr>
          <p:spPr>
            <a:xfrm>
              <a:off x="8563580" y="1820492"/>
              <a:ext cx="363857" cy="407729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AB348ED-1896-791F-DF37-52E13A791D1A}"/>
                </a:ext>
              </a:extLst>
            </p:cNvPr>
            <p:cNvSpPr txBox="1"/>
            <p:nvPr/>
          </p:nvSpPr>
          <p:spPr>
            <a:xfrm>
              <a:off x="7723732" y="2688360"/>
              <a:ext cx="1310270" cy="231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9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features_attributes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FC44C57-8C04-3E4E-895A-80810C68D7BA}"/>
              </a:ext>
            </a:extLst>
          </p:cNvPr>
          <p:cNvSpPr txBox="1"/>
          <p:nvPr/>
        </p:nvSpPr>
        <p:spPr>
          <a:xfrm>
            <a:off x="5244023" y="6068241"/>
            <a:ext cx="33283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demographic profile information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snapshot dates range between </a:t>
            </a:r>
            <a:r>
              <a:rPr lang="en-SG" sz="1000" b="1" dirty="0">
                <a:solidFill>
                  <a:srgbClr val="00B05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2023-01-01 to 2025-01-01 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aligns with features_financials and lms_loan_daily</a:t>
            </a:r>
          </a:p>
        </p:txBody>
      </p:sp>
      <p:sp>
        <p:nvSpPr>
          <p:cNvPr id="57" name="Google Shape;2961;p63">
            <a:extLst>
              <a:ext uri="{FF2B5EF4-FFF2-40B4-BE49-F238E27FC236}">
                <a16:creationId xmlns:a16="http://schemas.microsoft.com/office/drawing/2014/main" id="{1AB5D31E-428D-110D-694D-C2BD4A41084C}"/>
              </a:ext>
            </a:extLst>
          </p:cNvPr>
          <p:cNvSpPr txBox="1">
            <a:spLocks/>
          </p:cNvSpPr>
          <p:nvPr/>
        </p:nvSpPr>
        <p:spPr>
          <a:xfrm>
            <a:off x="5162689" y="933275"/>
            <a:ext cx="2205203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Feature Store</a:t>
            </a:r>
            <a:endParaRPr lang="en-US" sz="4000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36B044E-99F8-193E-4238-92BD9767838E}"/>
              </a:ext>
            </a:extLst>
          </p:cNvPr>
          <p:cNvSpPr/>
          <p:nvPr/>
        </p:nvSpPr>
        <p:spPr>
          <a:xfrm>
            <a:off x="5162688" y="1460098"/>
            <a:ext cx="6360681" cy="5260919"/>
          </a:xfrm>
          <a:prstGeom prst="roundRect">
            <a:avLst>
              <a:gd name="adj" fmla="val 7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Google Shape;2961;p63">
            <a:extLst>
              <a:ext uri="{FF2B5EF4-FFF2-40B4-BE49-F238E27FC236}">
                <a16:creationId xmlns:a16="http://schemas.microsoft.com/office/drawing/2014/main" id="{2DF128D5-B6C9-CA89-6DB6-DB9E43C58AC0}"/>
              </a:ext>
            </a:extLst>
          </p:cNvPr>
          <p:cNvSpPr txBox="1">
            <a:spLocks/>
          </p:cNvSpPr>
          <p:nvPr/>
        </p:nvSpPr>
        <p:spPr>
          <a:xfrm>
            <a:off x="676908" y="928157"/>
            <a:ext cx="2205203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Label Store</a:t>
            </a:r>
            <a:endParaRPr lang="en-US" sz="4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39C103-9175-10A5-3687-C703D619E769}"/>
              </a:ext>
            </a:extLst>
          </p:cNvPr>
          <p:cNvSpPr txBox="1"/>
          <p:nvPr/>
        </p:nvSpPr>
        <p:spPr>
          <a:xfrm>
            <a:off x="741656" y="4241104"/>
            <a:ext cx="38480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Loan Schedule 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each record representing either </a:t>
            </a:r>
            <a:r>
              <a:rPr lang="en-SG" sz="1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Loan inception or ii) 1 of 10 loan repayment checkpoints.</a:t>
            </a: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loan_id is a concatenation of Customer_ID and loan_start_date, </a:t>
            </a:r>
            <a:r>
              <a:rPr lang="en-SG" sz="1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therefore each customer only has one loan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endParaRPr lang="en-SG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Range of loan_start_dates between </a:t>
            </a:r>
            <a:r>
              <a:rPr lang="en-SG" sz="1000" b="1" dirty="0">
                <a:solidFill>
                  <a:srgbClr val="00B05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2023-01-01 to 2025-01-01 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aligns with snapshot_dates in features_financials and features_attributes (static data).</a:t>
            </a:r>
          </a:p>
          <a:p>
            <a:endParaRPr lang="en-SG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Temporal data (features_clickstream) relating to </a:t>
            </a:r>
            <a:r>
              <a:rPr lang="en-SG" sz="10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periods immediately before loan_start_date</a:t>
            </a:r>
            <a:r>
              <a:rPr lang="en-SG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be aggregated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055E6CA-E414-EF76-54C4-E07289594B36}"/>
              </a:ext>
            </a:extLst>
          </p:cNvPr>
          <p:cNvGrpSpPr/>
          <p:nvPr/>
        </p:nvGrpSpPr>
        <p:grpSpPr>
          <a:xfrm>
            <a:off x="757938" y="1710701"/>
            <a:ext cx="3297146" cy="2564712"/>
            <a:chOff x="5833157" y="4020439"/>
            <a:chExt cx="3841455" cy="289473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DA8584D1-17DB-474C-E36B-82F168531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65313"/>
            <a:stretch>
              <a:fillRect/>
            </a:stretch>
          </p:blipFill>
          <p:spPr>
            <a:xfrm>
              <a:off x="5833157" y="4020439"/>
              <a:ext cx="3031912" cy="2720576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9AE90F3-7F83-86F6-09DD-957FE8100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1052"/>
            <a:stretch>
              <a:fillRect/>
            </a:stretch>
          </p:blipFill>
          <p:spPr>
            <a:xfrm>
              <a:off x="8865069" y="4020439"/>
              <a:ext cx="782111" cy="2720576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7BD75C7-C7DF-BAFC-603B-4E39F4BF4A93}"/>
                </a:ext>
              </a:extLst>
            </p:cNvPr>
            <p:cNvSpPr/>
            <p:nvPr/>
          </p:nvSpPr>
          <p:spPr>
            <a:xfrm>
              <a:off x="6954006" y="4441564"/>
              <a:ext cx="2674885" cy="232833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56842BC-5A51-73D7-B73C-1F622FE3305C}"/>
                </a:ext>
              </a:extLst>
            </p:cNvPr>
            <p:cNvSpPr/>
            <p:nvPr/>
          </p:nvSpPr>
          <p:spPr>
            <a:xfrm>
              <a:off x="6954007" y="4911923"/>
              <a:ext cx="1101858" cy="232833"/>
            </a:xfrm>
            <a:prstGeom prst="roundRect">
              <a:avLst/>
            </a:prstGeom>
            <a:solidFill>
              <a:srgbClr val="FFFF99">
                <a:alpha val="4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6CB007B-0728-525B-0BE4-D8DA4A76D521}"/>
                </a:ext>
              </a:extLst>
            </p:cNvPr>
            <p:cNvSpPr txBox="1"/>
            <p:nvPr/>
          </p:nvSpPr>
          <p:spPr>
            <a:xfrm>
              <a:off x="8360104" y="6654642"/>
              <a:ext cx="1314508" cy="260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9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lms_loan_daily</a:t>
              </a:r>
            </a:p>
          </p:txBody>
        </p:sp>
      </p:grp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34DD5C9-EF41-67D5-DCDB-3B2BE137F7EC}"/>
              </a:ext>
            </a:extLst>
          </p:cNvPr>
          <p:cNvSpPr/>
          <p:nvPr/>
        </p:nvSpPr>
        <p:spPr>
          <a:xfrm>
            <a:off x="614470" y="1437296"/>
            <a:ext cx="4078892" cy="5260920"/>
          </a:xfrm>
          <a:prstGeom prst="roundRect">
            <a:avLst>
              <a:gd name="adj" fmla="val 77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76" name="Google Shape;11537;p106">
            <a:extLst>
              <a:ext uri="{FF2B5EF4-FFF2-40B4-BE49-F238E27FC236}">
                <a16:creationId xmlns:a16="http://schemas.microsoft.com/office/drawing/2014/main" id="{EFD80236-DC8C-875A-77B5-A8C7FC9D10C0}"/>
              </a:ext>
            </a:extLst>
          </p:cNvPr>
          <p:cNvGrpSpPr/>
          <p:nvPr/>
        </p:nvGrpSpPr>
        <p:grpSpPr>
          <a:xfrm>
            <a:off x="836010" y="172356"/>
            <a:ext cx="712849" cy="762149"/>
            <a:chOff x="-3771675" y="3971775"/>
            <a:chExt cx="291300" cy="292025"/>
          </a:xfrm>
          <a:solidFill>
            <a:srgbClr val="FFD700"/>
          </a:solidFill>
        </p:grpSpPr>
        <p:sp>
          <p:nvSpPr>
            <p:cNvPr id="77" name="Google Shape;11538;p106">
              <a:extLst>
                <a:ext uri="{FF2B5EF4-FFF2-40B4-BE49-F238E27FC236}">
                  <a16:creationId xmlns:a16="http://schemas.microsoft.com/office/drawing/2014/main" id="{ECFD073D-E9D5-2B09-CFBB-FB76DC894E14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539;p106">
              <a:extLst>
                <a:ext uri="{FF2B5EF4-FFF2-40B4-BE49-F238E27FC236}">
                  <a16:creationId xmlns:a16="http://schemas.microsoft.com/office/drawing/2014/main" id="{E057DF76-0030-E381-FF96-5D5B72534428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540;p106">
              <a:extLst>
                <a:ext uri="{FF2B5EF4-FFF2-40B4-BE49-F238E27FC236}">
                  <a16:creationId xmlns:a16="http://schemas.microsoft.com/office/drawing/2014/main" id="{A45539C1-E1C9-EB60-C258-31042ECC8576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1541;p106">
              <a:extLst>
                <a:ext uri="{FF2B5EF4-FFF2-40B4-BE49-F238E27FC236}">
                  <a16:creationId xmlns:a16="http://schemas.microsoft.com/office/drawing/2014/main" id="{20278CB4-CE0C-1EE6-A975-54763B94BE74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1542;p106">
              <a:extLst>
                <a:ext uri="{FF2B5EF4-FFF2-40B4-BE49-F238E27FC236}">
                  <a16:creationId xmlns:a16="http://schemas.microsoft.com/office/drawing/2014/main" id="{93F4248C-BAEC-3F5B-FC72-076A27DC1636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D95A8E6-F1F7-3A57-B39D-69B889058AB5}"/>
              </a:ext>
            </a:extLst>
          </p:cNvPr>
          <p:cNvSpPr txBox="1"/>
          <p:nvPr/>
        </p:nvSpPr>
        <p:spPr>
          <a:xfrm>
            <a:off x="8334751" y="717209"/>
            <a:ext cx="3180341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Descriptive statistics displayed are based on exploration of raw data and not reflective of final label and feature stores</a:t>
            </a:r>
          </a:p>
        </p:txBody>
      </p:sp>
    </p:spTree>
    <p:extLst>
      <p:ext uri="{BB962C8B-B14F-4D97-AF65-F5344CB8AC3E}">
        <p14:creationId xmlns:p14="http://schemas.microsoft.com/office/powerpoint/2010/main" val="241841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61;p63">
            <a:extLst>
              <a:ext uri="{FF2B5EF4-FFF2-40B4-BE49-F238E27FC236}">
                <a16:creationId xmlns:a16="http://schemas.microsoft.com/office/drawing/2014/main" id="{BAE46066-132F-C526-6600-71ADC4FDB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78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Silver Tables Processing – Data Type Enforcement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AC5863-AF3E-4E51-71AC-B0BB0FE6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19" y="2501141"/>
            <a:ext cx="3901778" cy="3886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C9AB14-A6FD-4107-2B17-89BEA3485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578" y="2501141"/>
            <a:ext cx="3741744" cy="3375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48DC10-1D4E-E643-5A85-AA356AEBB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136" y="4661963"/>
            <a:ext cx="3314987" cy="1958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6F7F28-7C18-CA78-1B90-066BA422A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136" y="2971838"/>
            <a:ext cx="4016088" cy="15317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C84698-4A09-09EF-52F7-479720791260}"/>
              </a:ext>
            </a:extLst>
          </p:cNvPr>
          <p:cNvSpPr txBox="1"/>
          <p:nvPr/>
        </p:nvSpPr>
        <p:spPr>
          <a:xfrm>
            <a:off x="1950613" y="1008044"/>
            <a:ext cx="8087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Post data quality handling, data type for each and every column is enforced before saving to parquet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reason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4152C6-502A-9722-5735-967DC35CB67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1517" y="1057239"/>
            <a:ext cx="1011936" cy="101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9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7429</TotalTime>
  <Words>2547</Words>
  <Application>Microsoft Office PowerPoint</Application>
  <PresentationFormat>Widescreen</PresentationFormat>
  <Paragraphs>316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Open Sans</vt:lpstr>
      <vt:lpstr>Wingdings</vt:lpstr>
      <vt:lpstr>Office Theme</vt:lpstr>
      <vt:lpstr>Data Processing Pipelines</vt:lpstr>
      <vt:lpstr>Proposed Pipeline – Medallion Architecture</vt:lpstr>
      <vt:lpstr>Overall Pipelining Considerations</vt:lpstr>
      <vt:lpstr>Silver Tables Processing</vt:lpstr>
      <vt:lpstr>Silver Tables Processing – Data Quality Handling</vt:lpstr>
      <vt:lpstr>Silver Tables Processing – Data Quality Handling</vt:lpstr>
      <vt:lpstr>PowerPoint Presentation</vt:lpstr>
      <vt:lpstr>PowerPoint Presentation</vt:lpstr>
      <vt:lpstr>PowerPoint Presentation</vt:lpstr>
      <vt:lpstr>PowerPoint Presentation</vt:lpstr>
      <vt:lpstr>Gold Tables Processing – Feature &amp; Label Stores</vt:lpstr>
      <vt:lpstr>Silver Tables Processing – Data Type Enforcement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Yuan Yue</dc:creator>
  <cp:lastModifiedBy>Jun Yuan Yue</cp:lastModifiedBy>
  <cp:revision>23</cp:revision>
  <dcterms:created xsi:type="dcterms:W3CDTF">2025-09-28T16:41:21Z</dcterms:created>
  <dcterms:modified xsi:type="dcterms:W3CDTF">2025-10-06T16:45:17Z</dcterms:modified>
</cp:coreProperties>
</file>